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637AE0-E98A-4C53-BA17-D5B0AC9A1821}">
  <a:tblStyle styleId="{F3637AE0-E98A-4C53-BA17-D5B0AC9A18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6c2055b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6c2055b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6c2055be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6c2055be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9.png"/><Relationship Id="rId8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66606" y="2249834"/>
            <a:ext cx="785863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IT Project Management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601" y="328984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66606" y="3632745"/>
            <a:ext cx="7858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Topic 4: Co</a:t>
            </a: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 P</a:t>
            </a: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lanning &amp; Performance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53716" y="4099470"/>
            <a:ext cx="7484417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Diploma Level | Module 4.1 - 4.5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Importance of Costing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2486025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Accurate cost estimates are the foundation of project success. They determine feasibility and secure funding.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81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Types of Costs in IT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2486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cost behavior is crucial for accurate estimation.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52525" y="35433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Feasibility: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Can we afford to do this project?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525" y="39624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Baseline: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Creates a standard to measure performance against.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46863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Justifies the investment to stakeholders.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67525" y="32385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Costs: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Salaries, Software Licenses, Servers.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67525" y="39624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Indirect Costs: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Overhead, Office Rent, Utilities.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67525" y="43815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Fixed vs. Variable: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One-time hardware purchase vs. monthly cloud usage fees.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4.1 Project Cost Estimates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581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000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724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32766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4000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441960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38462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938462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938462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2205037" y="2252662"/>
            <a:ext cx="778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process of aggregating estimated costs to establish an authorized cost baseline.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28370" y="3986212"/>
            <a:ext cx="177865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Allocate Total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44053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Distribute the total project estimate to individual work packages in the WBS.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374659" y="3986212"/>
            <a:ext cx="14426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Aggregate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45074" y="44053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Sum the costs of work packages to determine the total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Budgeted Cost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77962" y="3986212"/>
            <a:ext cx="13926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Authorize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23374" y="4405312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 contingency reserves to form the final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 Baseline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3281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32813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328136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4.2 Project Budgeting: Allocation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2913475" y="202450"/>
            <a:ext cx="59838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2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4.2 Cumulative Budgeted Cost</a:t>
            </a:r>
            <a:endParaRPr sz="1611"/>
          </a:p>
        </p:txBody>
      </p:sp>
      <p:sp>
        <p:nvSpPr>
          <p:cNvPr id="139" name="Google Shape;139;p16"/>
          <p:cNvSpPr/>
          <p:nvPr/>
        </p:nvSpPr>
        <p:spPr>
          <a:xfrm>
            <a:off x="2913475" y="1714817"/>
            <a:ext cx="5698800" cy="22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52575" lIns="105200" spcFirstLastPara="1" rIns="105200" wrap="square" tIns="52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848623" y="2224419"/>
            <a:ext cx="1919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6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S-Curve</a:t>
            </a:r>
            <a:endParaRPr sz="1611"/>
          </a:p>
        </p:txBody>
      </p:sp>
      <p:sp>
        <p:nvSpPr>
          <p:cNvPr id="141" name="Google Shape;141;p16"/>
          <p:cNvSpPr txBox="1"/>
          <p:nvPr/>
        </p:nvSpPr>
        <p:spPr>
          <a:xfrm>
            <a:off x="2913475" y="2761419"/>
            <a:ext cx="56988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costs are not spent linearly. Budgeting involves developing a time-phased view of costs.</a:t>
            </a:r>
            <a:endParaRPr sz="1611"/>
          </a:p>
        </p:txBody>
      </p:sp>
      <p:sp>
        <p:nvSpPr>
          <p:cNvPr id="142" name="Google Shape;142;p16"/>
          <p:cNvSpPr txBox="1"/>
          <p:nvPr/>
        </p:nvSpPr>
        <p:spPr>
          <a:xfrm>
            <a:off x="2913475" y="5073807"/>
            <a:ext cx="56988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accumulation of costs over time creates the characteristic "S-Curve" used for monitoring performance.</a:t>
            </a:r>
            <a:endParaRPr sz="1611"/>
          </a:p>
        </p:txBody>
      </p:sp>
      <p:sp>
        <p:nvSpPr>
          <p:cNvPr id="143" name="Google Shape;143;p16"/>
          <p:cNvSpPr txBox="1"/>
          <p:nvPr/>
        </p:nvSpPr>
        <p:spPr>
          <a:xfrm>
            <a:off x="3324443" y="3627195"/>
            <a:ext cx="52056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Start:</a:t>
            </a:r>
            <a:r>
              <a:rPr b="0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 spending (Planning).</a:t>
            </a:r>
            <a:endParaRPr sz="1611"/>
          </a:p>
        </p:txBody>
      </p:sp>
      <p:sp>
        <p:nvSpPr>
          <p:cNvPr id="144" name="Google Shape;144;p16"/>
          <p:cNvSpPr txBox="1"/>
          <p:nvPr/>
        </p:nvSpPr>
        <p:spPr>
          <a:xfrm>
            <a:off x="3324443" y="4109399"/>
            <a:ext cx="52056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Middle:</a:t>
            </a:r>
            <a:r>
              <a:rPr b="0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Peak spending (Execution/Development).</a:t>
            </a:r>
            <a:endParaRPr sz="1611"/>
          </a:p>
        </p:txBody>
      </p:sp>
      <p:sp>
        <p:nvSpPr>
          <p:cNvPr id="145" name="Google Shape;145;p16"/>
          <p:cNvSpPr txBox="1"/>
          <p:nvPr/>
        </p:nvSpPr>
        <p:spPr>
          <a:xfrm>
            <a:off x="3324443" y="4591603"/>
            <a:ext cx="52056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End:</a:t>
            </a:r>
            <a:r>
              <a:rPr b="0" i="0" lang="en-US" sz="1726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Tapering off (Closure).</a:t>
            </a:r>
            <a:endParaRPr sz="1611"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5668" y="3671031"/>
            <a:ext cx="153428" cy="175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5668" y="4153235"/>
            <a:ext cx="153428" cy="175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5668" y="4635439"/>
            <a:ext cx="153428" cy="17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66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Actual Cost (AC)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66775" y="2486025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total cost actually incurred and recorded in accomplishing work performed during a given time period.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581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Committed Cost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581775" y="2486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Funds that have been obligated or encumbered but not yet paid. Critical for IT procurement.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047875"/>
            <a:ext cx="2995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1152525" y="35433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Salaries paid.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152525" y="39624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Invoices settled.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52525" y="43815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Software subscriptions paid.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047875"/>
            <a:ext cx="19481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867525" y="32385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Signed Purchase Orders (POs) for hardware.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867525" y="36576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Contracts signed with external vendors.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67525" y="40767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 important?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Prevents accidental overspending of the "remaining" budget.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4.3 Determining Actual Cost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581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000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4196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2766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6957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11480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5042"/>
            <a:ext cx="11049000" cy="305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00400" y="2229742"/>
            <a:ext cx="579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Regular comparison allows for early detection of cost overruns.</a:t>
            </a:r>
            <a:endParaRPr/>
          </a:p>
        </p:txBody>
      </p:sp>
      <p:graphicFrame>
        <p:nvGraphicFramePr>
          <p:cNvPr id="188" name="Google Shape;188;p19"/>
          <p:cNvGraphicFramePr/>
          <p:nvPr/>
        </p:nvGraphicFramePr>
        <p:xfrm>
          <a:off x="571500" y="2725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{F3637AE0-E98A-4C53-BA17-D5B0AC9A1821}</a:tableStyleId>
              </a:tblPr>
              <a:tblGrid>
                <a:gridCol w="3051725"/>
                <a:gridCol w="2751975"/>
                <a:gridCol w="2397775"/>
                <a:gridCol w="2847525"/>
              </a:tblGrid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Budgeted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 Hardware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$12,500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-$2,500 (Over)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Licenses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+$200 (Under)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$18,000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+$2,000 (Under)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$35,300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-$300 (Over)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19"/>
          <p:cNvSpPr/>
          <p:nvPr/>
        </p:nvSpPr>
        <p:spPr>
          <a:xfrm>
            <a:off x="571500" y="3299370"/>
            <a:ext cx="30517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623220" y="3299370"/>
            <a:ext cx="27519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375201" y="3299370"/>
            <a:ext cx="239776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8772971" y="3299370"/>
            <a:ext cx="28475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3918495"/>
            <a:ext cx="30517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623220" y="3918495"/>
            <a:ext cx="27519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375201" y="3918495"/>
            <a:ext cx="239776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772971" y="3918495"/>
            <a:ext cx="28475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71500" y="4537620"/>
            <a:ext cx="30517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623220" y="4537620"/>
            <a:ext cx="27519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375201" y="4537620"/>
            <a:ext cx="239776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8772971" y="4537620"/>
            <a:ext cx="28475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5156745"/>
            <a:ext cx="305172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623220" y="5156745"/>
            <a:ext cx="27519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375201" y="5156745"/>
            <a:ext cx="239776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8772971" y="5156745"/>
            <a:ext cx="28475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4.3 Comparing Actual vs. Budgeted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538162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09775"/>
            <a:ext cx="5381625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3881437" y="555307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 = % Complete x Budget at Completion (BAC)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962025" y="2400300"/>
            <a:ext cx="46005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50%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47010" y="3352800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Budget Spent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62025" y="3819525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Just because you spent 50% of the money, doesn't mean you are 50% done.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629400" y="2400300"/>
            <a:ext cx="46005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EV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14385" y="3352800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Earned Value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29400" y="381952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estimated value of the work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actually completed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It measures how well the project is adhering to the plan.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4.4 Determining Value (EV)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24025"/>
            <a:ext cx="533400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286125"/>
            <a:ext cx="47434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286125"/>
            <a:ext cx="4743450" cy="74473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866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 Variance (CV)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866775" y="2486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amount of budget deficit or surplus at a given point in time.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66775" y="4000500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Negative = Over Budget.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581775" y="20193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 Performance Index (CPI)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581775" y="2486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measure of the cost efficiency of budgeted resources.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581775" y="4221360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&lt; 1.0 = Cost Overrun.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5375" y="3476625"/>
            <a:ext cx="4324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0375" y="3476625"/>
            <a:ext cx="4324350" cy="36373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4.5 Cost Performance Analysis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3087525" y="67275"/>
            <a:ext cx="64863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9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4.5 Managing Cash Flow</a:t>
            </a:r>
            <a:endParaRPr sz="1746"/>
          </a:p>
        </p:txBody>
      </p:sp>
      <p:sp>
        <p:nvSpPr>
          <p:cNvPr id="247" name="Google Shape;247;p22"/>
          <p:cNvSpPr/>
          <p:nvPr/>
        </p:nvSpPr>
        <p:spPr>
          <a:xfrm>
            <a:off x="3087525" y="1706631"/>
            <a:ext cx="6177600" cy="24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57000" lIns="114025" spcFirstLastPara="1" rIns="114025" wrap="square" tIns="57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4913976" y="2259022"/>
            <a:ext cx="26505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9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Liquidity is King</a:t>
            </a:r>
            <a:endParaRPr sz="1746"/>
          </a:p>
        </p:txBody>
      </p:sp>
      <p:sp>
        <p:nvSpPr>
          <p:cNvPr id="249" name="Google Shape;249;p22"/>
          <p:cNvSpPr txBox="1"/>
          <p:nvPr/>
        </p:nvSpPr>
        <p:spPr>
          <a:xfrm>
            <a:off x="3087525" y="2841112"/>
            <a:ext cx="61776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 performance is about budget; Cash flow is about having money in the bank to pay bills.</a:t>
            </a:r>
            <a:endParaRPr sz="1746"/>
          </a:p>
        </p:txBody>
      </p:sp>
      <p:sp>
        <p:nvSpPr>
          <p:cNvPr id="250" name="Google Shape;250;p22"/>
          <p:cNvSpPr txBox="1"/>
          <p:nvPr/>
        </p:nvSpPr>
        <p:spPr>
          <a:xfrm>
            <a:off x="3087525" y="5727803"/>
            <a:ext cx="61776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Managers must align the </a:t>
            </a:r>
            <a:r>
              <a:rPr b="1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Schedule</a:t>
            </a: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the </a:t>
            </a:r>
            <a:r>
              <a:rPr b="1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Funding Limit Reconciliation</a:t>
            </a: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46"/>
          </a:p>
        </p:txBody>
      </p:sp>
      <p:sp>
        <p:nvSpPr>
          <p:cNvPr id="251" name="Google Shape;251;p22"/>
          <p:cNvSpPr txBox="1"/>
          <p:nvPr/>
        </p:nvSpPr>
        <p:spPr>
          <a:xfrm>
            <a:off x="3443906" y="3779583"/>
            <a:ext cx="5820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Inflow:</a:t>
            </a: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Milestones payments from client.</a:t>
            </a:r>
            <a:endParaRPr sz="1746"/>
          </a:p>
        </p:txBody>
      </p:sp>
      <p:sp>
        <p:nvSpPr>
          <p:cNvPr id="252" name="Google Shape;252;p22"/>
          <p:cNvSpPr txBox="1"/>
          <p:nvPr/>
        </p:nvSpPr>
        <p:spPr>
          <a:xfrm>
            <a:off x="3443906" y="4302277"/>
            <a:ext cx="5820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Outflow:</a:t>
            </a: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Monthly salaries, hardware purchases.</a:t>
            </a:r>
            <a:endParaRPr sz="1746"/>
          </a:p>
        </p:txBody>
      </p:sp>
      <p:sp>
        <p:nvSpPr>
          <p:cNvPr id="253" name="Google Shape;253;p22"/>
          <p:cNvSpPr txBox="1"/>
          <p:nvPr/>
        </p:nvSpPr>
        <p:spPr>
          <a:xfrm>
            <a:off x="3443906" y="4824970"/>
            <a:ext cx="58209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Gap:</a:t>
            </a:r>
            <a:r>
              <a:rPr b="0" i="0" lang="en-US" sz="1871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projects often have large upfront outflows (hardware) before inflows arrive.</a:t>
            </a:r>
            <a:endParaRPr sz="1746"/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525" y="3827101"/>
            <a:ext cx="166311" cy="190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525" y="4349794"/>
            <a:ext cx="166311" cy="190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7525" y="4872487"/>
            <a:ext cx="166311" cy="190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46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95562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95562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1912024" y="3643312"/>
            <a:ext cx="8113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Budget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66775" y="40624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the Cost Baseline (S-Curve) by aggregating estimates.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772987" y="3643312"/>
            <a:ext cx="6461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Track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4645074" y="4062412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 Actual Costs (AC) and Committed Costs.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9411112" y="3643312"/>
            <a:ext cx="9265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Analyze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8423374" y="40624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CPI and CV to determine if the project is adhering to the budget.</a:t>
            </a:r>
            <a:endParaRPr/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9384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9384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2849" y="293846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Topic 4 Summary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4264223" y="2607022"/>
            <a:ext cx="3846574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3195637" y="3742283"/>
            <a:ext cx="5800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Project Management: Cost Planning &amp; Performance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/>
          <p:nvPr/>
        </p:nvSpPr>
        <p:spPr>
          <a:xfrm>
            <a:off x="2776537" y="3225254"/>
            <a:ext cx="66389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6537" y="3263354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/>
          <p:nvPr/>
        </p:nvSpPr>
        <p:spPr>
          <a:xfrm>
            <a:off x="2776537" y="4000500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2776537" y="4000500"/>
            <a:ext cx="6638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6537" y="40481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6537" y="33746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3871912" y="3368129"/>
            <a:ext cx="5543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https://www.zerofloat.com.au/wp-content/uploads/2021/07/SCurve.png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3871912" y="3613844"/>
            <a:ext cx="5543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www.zerofloat.com.au</a:t>
            </a:r>
            <a:endParaRPr/>
          </a:p>
        </p:txBody>
      </p:sp>
      <p:pic>
        <p:nvPicPr>
          <p:cNvPr descr="image.png" id="301" name="Google Shape;30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6537" y="41594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 txBox="1"/>
          <p:nvPr/>
        </p:nvSpPr>
        <p:spPr>
          <a:xfrm>
            <a:off x="3871912" y="4152900"/>
            <a:ext cx="5543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https://www.smartsheet.com/sites/default/files/2020-09/IC-Project-Cash-Flow-Template.png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3871912" y="4398615"/>
            <a:ext cx="5543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www.smartsheet.com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