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Roboto Slab"/>
      <p:regular r:id="rId22"/>
      <p:bold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Inter SemiBold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8778DA-4AAA-42D3-B583-E2A0F620604B}">
  <a:tblStyle styleId="{968778DA-4AAA-42D3-B583-E2A0F62060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Slab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InterSemiBold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Italic.fntdata"/><Relationship Id="rId30" Type="http://schemas.openxmlformats.org/officeDocument/2006/relationships/font" Target="fonts/InterSemiBold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6bef9815e_0_4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6bef9815e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6bef9815e_0_24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6bef9815e_0_2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033067" y="896808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8716786" y="44572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240402" y="1585234"/>
            <a:ext cx="7711200" cy="1943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240402" y="4065933"/>
            <a:ext cx="7711200" cy="121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641000" y="2353267"/>
            <a:ext cx="10962900" cy="1209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5172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63416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652291" y="1883036"/>
            <a:ext cx="4419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5172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517200" y="2125367"/>
            <a:ext cx="3744000" cy="357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6096000" y="-100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6706233" y="5994004"/>
            <a:ext cx="721200" cy="0"/>
          </a:xfrm>
          <a:prstGeom prst="straightConnector1">
            <a:avLst/>
          </a:prstGeom>
          <a:noFill/>
          <a:ln cap="flat" cmpd="sng" w="5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354000" y="1612100"/>
            <a:ext cx="5393700" cy="2008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26000" y="5644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200" y="6769100"/>
            <a:ext cx="12191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517200" y="1536600"/>
            <a:ext cx="111576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517200" y="3892600"/>
            <a:ext cx="111576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10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8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18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10" Type="http://schemas.openxmlformats.org/officeDocument/2006/relationships/image" Target="../media/image35.png"/><Relationship Id="rId9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37.png"/><Relationship Id="rId8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/>
        </p:nvSpPr>
        <p:spPr>
          <a:xfrm>
            <a:off x="2166606" y="2249834"/>
            <a:ext cx="7858638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IT Project Management</a:t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5619601" y="3289845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166606" y="3632745"/>
            <a:ext cx="7858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Topic 3: Project Planning &amp; Controlling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2353716" y="4099470"/>
            <a:ext cx="748441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Diploma Level | Module 3.1 - 3.5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90862"/>
            <a:ext cx="2547937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" name="Google Shape;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5187" y="3090862"/>
            <a:ext cx="2547937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" name="Google Shape;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3090862"/>
            <a:ext cx="2547937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" name="Google Shape;7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2562" y="3090862"/>
            <a:ext cx="2547937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1038225" y="2405062"/>
            <a:ext cx="10115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Objectives define what needs to be achieved. In IT projects, we adhere to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SMART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criteria to ensure clarity.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1379476" y="4138612"/>
            <a:ext cx="9318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Specific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866775" y="4557712"/>
            <a:ext cx="19573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Clear &amp; unambiguous goals.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012982" y="4138612"/>
            <a:ext cx="13321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Measurable</a:t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3700462" y="4557712"/>
            <a:ext cx="19573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Quantifiable progress.</a:t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6881674" y="4138612"/>
            <a:ext cx="126218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Achievable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6534150" y="4557712"/>
            <a:ext cx="19573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Realistic within resources.</a:t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9640352" y="4138612"/>
            <a:ext cx="14122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Time-Bound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9498806" y="4557712"/>
            <a:ext cx="1695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Defined deadlines.</a:t>
            </a:r>
            <a:endParaRPr/>
          </a:p>
        </p:txBody>
      </p:sp>
      <p:pic>
        <p:nvPicPr>
          <p:cNvPr descr="image.png" id="84" name="Google Shape;8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6868" y="34337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50556" y="34337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12818" y="34337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17931" y="34337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3.1 Project Objectives</a:t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3865550" y="376450"/>
            <a:ext cx="520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3.2 Work Breakdown Structure (WBS)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3865550" y="1690900"/>
            <a:ext cx="4953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4869246" y="2090950"/>
            <a:ext cx="309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Decomposition of Work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3865550" y="255767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WBS is a hierarchical decomposition of the total scope of work to be carried out by the project team.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3865550" y="5672350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100% Rule: The WBS includes 100% of the work defined by the project scope.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4151300" y="3310150"/>
            <a:ext cx="466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Root: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final project deliverable (e.g., "Mobile App").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151300" y="4034050"/>
            <a:ext cx="466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Phases: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Major logical groupings (Design, Dev, Test).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4151300" y="4757950"/>
            <a:ext cx="466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Work Packages: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lowest level, manageable activities.</a:t>
            </a:r>
            <a:endParaRPr/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5550" y="33482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5550" y="40721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5550" y="479605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84090"/>
            <a:ext cx="11049000" cy="30555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1595437" y="1893540"/>
            <a:ext cx="9001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RACI matrix clarifies roles and responsibilities for each task, preventing confusion in IT teams.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2614612" y="5730180"/>
            <a:ext cx="6962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Responsible (Doer),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Accountable (Owner),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Consulted (Two-way),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Informed (One-way)</a:t>
            </a:r>
            <a:endParaRPr/>
          </a:p>
        </p:txBody>
      </p:sp>
      <p:graphicFrame>
        <p:nvGraphicFramePr>
          <p:cNvPr id="117" name="Google Shape;117;p17"/>
          <p:cNvGraphicFramePr/>
          <p:nvPr/>
        </p:nvGraphicFramePr>
        <p:xfrm>
          <a:off x="571500" y="24840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{968778DA-4AAA-42D3-B583-E2A0F620604B}</a:tableStyleId>
              </a:tblPr>
              <a:tblGrid>
                <a:gridCol w="2832950"/>
                <a:gridCol w="2606425"/>
                <a:gridCol w="1869725"/>
                <a:gridCol w="1869725"/>
                <a:gridCol w="1870175"/>
              </a:tblGrid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Manager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Define Requirements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Accountable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Consulted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Informed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Responsible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Code Module A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Accountable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Responsible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Informed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Informed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System Testing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Informed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Consulted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Responsible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Informed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User Acceptance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Accountable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Consulted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Consulted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Responsible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17"/>
          <p:cNvSpPr/>
          <p:nvPr/>
        </p:nvSpPr>
        <p:spPr>
          <a:xfrm>
            <a:off x="571500" y="3058417"/>
            <a:ext cx="283294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404443" y="3058417"/>
            <a:ext cx="260642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010870" y="3058417"/>
            <a:ext cx="186972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7880598" y="3058417"/>
            <a:ext cx="186972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9750325" y="3058417"/>
            <a:ext cx="187017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571500" y="3677542"/>
            <a:ext cx="283294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3404443" y="3677542"/>
            <a:ext cx="260642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010870" y="3677542"/>
            <a:ext cx="186972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7880598" y="3677542"/>
            <a:ext cx="186972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9750325" y="3677542"/>
            <a:ext cx="187017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571500" y="4296667"/>
            <a:ext cx="283294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3404443" y="4296667"/>
            <a:ext cx="260642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010870" y="4296667"/>
            <a:ext cx="186972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7880598" y="4296667"/>
            <a:ext cx="186972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9750325" y="4296667"/>
            <a:ext cx="187017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71500" y="4915792"/>
            <a:ext cx="283294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404443" y="4915792"/>
            <a:ext cx="260642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010870" y="4915792"/>
            <a:ext cx="186972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7880598" y="4915792"/>
            <a:ext cx="186972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9750325" y="4915792"/>
            <a:ext cx="187017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3.3 Responsibility Matrix (RACI)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866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Scheduling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66775" y="248602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Scheduling determines the start and finish dates for project activities. It is the roadmap for execution.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581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Estimation Techniques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152525" y="32385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activities (from WBS).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152525" y="36576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Sequence activities (Dependencies).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152525" y="40767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Estimate resources &amp; durations.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867525" y="248602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Expert Judgment: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Based on historical experience.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867525" y="320992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Analogous: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Comparing to a similar past project (Top-down).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867525" y="393382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Parametric: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Statistical relationship (e.g., hours per line of code).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867525" y="465772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Three-Point: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(Optimistic + 4*MostLikely + Pessimistic) / 6.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3.4 Scheduling &amp; 3.4.1 Duration Estimates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2766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6957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4114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524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32480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39719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4695825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571500" y="172402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Network Logic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21907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network diagram visually displays the logical relationships (dependencies) between project activities.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48101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allows us to identify the critical path and calculate project duration.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857250" y="29432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Nodes: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Represent activities (in PDM - Precedence Diagramming Method).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57250" y="36671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Arrows: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Show dependencies (A must finish before B starts).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57250" y="43910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sequence of connected activities.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3.5 Developing the Network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813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7052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429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7350" y="1323976"/>
            <a:ext cx="6193199" cy="433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533650"/>
            <a:ext cx="47434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3248025"/>
            <a:ext cx="4743450" cy="63341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866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Concepts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66775" y="248602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Forward Pass determines the earliest times an activity can start and finish based on network logic.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581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Formulas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152525" y="32385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 (Early Start):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earliest point an activity can begin.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152525" y="39624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EF (Early Finish):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 + Duration.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152525" y="43815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When activities merge, the ES of the successor is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EF of all predecessors.</a:t>
            </a:r>
            <a:endParaRPr/>
          </a:p>
        </p:txBody>
      </p:sp>
      <p:pic>
        <p:nvPicPr>
          <p:cNvPr descr="image.png" id="195" name="Google Shape;1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0375" y="2724150"/>
            <a:ext cx="4324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0375" y="3438525"/>
            <a:ext cx="4324350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3.4.3 Forward Pass Calculation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2766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0005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41960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866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Concepts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66775" y="2486025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Backward Pass determines the latest times an activity can start and finish without delaying the project.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581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Formulas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152525" y="35433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LF (Late Finish):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latest point an activity can end.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152525" y="42672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LS (Late Start):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LF - Duration.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152525" y="46863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When tracing back, the LF of a predecessor is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LS of all successors.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2724150"/>
            <a:ext cx="4324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0375" y="3438525"/>
            <a:ext cx="4324350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3.4.3 Backward Pass Calculation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581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3053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72440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24087"/>
            <a:ext cx="5381625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224087"/>
            <a:ext cx="5381625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962025" y="2614612"/>
            <a:ext cx="46005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47010" y="3567112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Slack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62025" y="4033837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amount of time an activity can be delayed without delaying the project end date.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Slack = LS - ES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629400" y="2614612"/>
            <a:ext cx="46005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CP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514385" y="3567112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Critical Path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629400" y="4033837"/>
            <a:ext cx="46005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longest path through the network diagram. It determines the shortest time to complete the project. Activities on the Critical Path have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Zero Slack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Critical Path &amp; Slack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/>
        </p:nvSpPr>
        <p:spPr>
          <a:xfrm>
            <a:off x="3319000" y="412875"/>
            <a:ext cx="59079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89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3.5.1 Gantt Charts</a:t>
            </a:r>
            <a:endParaRPr sz="1590"/>
          </a:p>
        </p:txBody>
      </p:sp>
      <p:sp>
        <p:nvSpPr>
          <p:cNvPr id="240" name="Google Shape;240;p23"/>
          <p:cNvSpPr/>
          <p:nvPr/>
        </p:nvSpPr>
        <p:spPr>
          <a:xfrm>
            <a:off x="3319000" y="1267651"/>
            <a:ext cx="5626200" cy="219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51900" lIns="103875" spcFirstLastPara="1" rIns="103875" wrap="square" tIns="5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4370900" y="1743729"/>
            <a:ext cx="36987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Visualizing the Schedule</a:t>
            </a:r>
            <a:endParaRPr sz="1590"/>
          </a:p>
        </p:txBody>
      </p:sp>
      <p:sp>
        <p:nvSpPr>
          <p:cNvPr id="242" name="Google Shape;242;p23"/>
          <p:cNvSpPr txBox="1"/>
          <p:nvPr/>
        </p:nvSpPr>
        <p:spPr>
          <a:xfrm>
            <a:off x="3319000" y="2273907"/>
            <a:ext cx="56262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Gantt chart is a horizontal bar chart used to illustrate the project schedule.</a:t>
            </a:r>
            <a:endParaRPr sz="1590"/>
          </a:p>
        </p:txBody>
      </p:sp>
      <p:sp>
        <p:nvSpPr>
          <p:cNvPr id="243" name="Google Shape;243;p23"/>
          <p:cNvSpPr txBox="1"/>
          <p:nvPr/>
        </p:nvSpPr>
        <p:spPr>
          <a:xfrm>
            <a:off x="3319000" y="5249394"/>
            <a:ext cx="56262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Modern tools like </a:t>
            </a:r>
            <a:r>
              <a:rPr b="1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Microsoft Project</a:t>
            </a:r>
            <a:r>
              <a:rPr b="0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automate the creation of Gantt charts from WBS and dependency data.</a:t>
            </a:r>
            <a:endParaRPr sz="1590"/>
          </a:p>
        </p:txBody>
      </p:sp>
      <p:sp>
        <p:nvSpPr>
          <p:cNvPr id="244" name="Google Shape;244;p23"/>
          <p:cNvSpPr txBox="1"/>
          <p:nvPr/>
        </p:nvSpPr>
        <p:spPr>
          <a:xfrm>
            <a:off x="3643598" y="3128683"/>
            <a:ext cx="53019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Axis:</a:t>
            </a:r>
            <a:r>
              <a:rPr b="0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Time is on the X-axis; Activities are on the Y-axis.</a:t>
            </a:r>
            <a:endParaRPr sz="1590"/>
          </a:p>
        </p:txBody>
      </p:sp>
      <p:sp>
        <p:nvSpPr>
          <p:cNvPr id="245" name="Google Shape;245;p23"/>
          <p:cNvSpPr txBox="1"/>
          <p:nvPr/>
        </p:nvSpPr>
        <p:spPr>
          <a:xfrm>
            <a:off x="3643598" y="3950999"/>
            <a:ext cx="5301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Bars:</a:t>
            </a:r>
            <a:r>
              <a:rPr b="0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Length represents duration.</a:t>
            </a:r>
            <a:endParaRPr sz="1590"/>
          </a:p>
        </p:txBody>
      </p:sp>
      <p:sp>
        <p:nvSpPr>
          <p:cNvPr id="246" name="Google Shape;246;p23"/>
          <p:cNvSpPr txBox="1"/>
          <p:nvPr/>
        </p:nvSpPr>
        <p:spPr>
          <a:xfrm>
            <a:off x="3643598" y="4427077"/>
            <a:ext cx="53019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Utility:</a:t>
            </a:r>
            <a:r>
              <a:rPr b="0" i="0" lang="en-US" sz="170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Easy for stakeholders to understand progress and overlaps.</a:t>
            </a:r>
            <a:endParaRPr sz="1590"/>
          </a:p>
        </p:txBody>
      </p:sp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9000" y="3171963"/>
            <a:ext cx="151479" cy="173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9000" y="3994279"/>
            <a:ext cx="151479" cy="173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9000" y="4470357"/>
            <a:ext cx="151479" cy="173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33" y="0"/>
            <a:ext cx="12310534" cy="692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43162"/>
            <a:ext cx="2547937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5187" y="2443162"/>
            <a:ext cx="2547937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443162"/>
            <a:ext cx="2547937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2562" y="2443162"/>
            <a:ext cx="2547937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474797" y="3490912"/>
            <a:ext cx="74134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Define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866775" y="3910012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Set SMART objectives and decompose work using WBS.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4288482" y="3490912"/>
            <a:ext cx="7813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Assign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3700462" y="3910012"/>
            <a:ext cx="19573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Clarify roles with the RACI matrix.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6974338" y="3490912"/>
            <a:ext cx="107700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Calculate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534150" y="3910012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Network Logic (ES, EF, LS, LF) to find the Critical Path.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9823028" y="3490912"/>
            <a:ext cx="10470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Visualize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9367837" y="3910012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Communicate the plan effectively using Gantt Charts.</a:t>
            </a:r>
            <a:endParaRPr/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6868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3406" y="27860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41393" y="27860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17931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Topic 3 Summary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/>
          <p:nvPr/>
        </p:nvSpPr>
        <p:spPr>
          <a:xfrm>
            <a:off x="4264223" y="1921222"/>
            <a:ext cx="3846574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4543425" y="3056483"/>
            <a:ext cx="31051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/>
          <p:nvPr/>
        </p:nvSpPr>
        <p:spPr>
          <a:xfrm>
            <a:off x="1762125" y="2832794"/>
            <a:ext cx="86677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1762125" y="3617565"/>
            <a:ext cx="86677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9" name="Google Shape;2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25" y="2870894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/>
          <p:nvPr/>
        </p:nvSpPr>
        <p:spPr>
          <a:xfrm>
            <a:off x="1762125" y="3608040"/>
            <a:ext cx="86677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1762125" y="3608040"/>
            <a:ext cx="86677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25" y="3655665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/>
          <p:nvPr/>
        </p:nvSpPr>
        <p:spPr>
          <a:xfrm>
            <a:off x="1762125" y="4392810"/>
            <a:ext cx="86677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1762125" y="4392810"/>
            <a:ext cx="86677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5" name="Google Shape;29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25" y="444043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2125" y="29822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2857500" y="2975669"/>
            <a:ext cx="75723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https://itpmschool.com/wp-content/uploads/2023/10/Work-breakdown-structure-chart.webp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2857500" y="3221384"/>
            <a:ext cx="7572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itpmschool.com</a:t>
            </a:r>
            <a:endParaRPr/>
          </a:p>
        </p:txBody>
      </p:sp>
      <p:pic>
        <p:nvPicPr>
          <p:cNvPr descr="image.png" id="299" name="Google Shape;29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2125" y="37669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7"/>
          <p:cNvSpPr txBox="1"/>
          <p:nvPr/>
        </p:nvSpPr>
        <p:spPr>
          <a:xfrm>
            <a:off x="2857500" y="3760440"/>
            <a:ext cx="75723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https://www.project-risk-manager.com/wp-content/uploads/2017/10/PERT-Network-Diagram-Rev0.png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2857500" y="4006155"/>
            <a:ext cx="7572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www.project-risk-manager.com</a:t>
            </a:r>
            <a:endParaRPr/>
          </a:p>
        </p:txBody>
      </p:sp>
      <p:pic>
        <p:nvPicPr>
          <p:cNvPr descr="image.png" id="302" name="Google Shape;30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62125" y="45517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2857500" y="4545210"/>
            <a:ext cx="75723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https://img.officetimeline.com/website/Content/templates/images/gantt-charts/software-development-gantt-chart-template.png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2857500" y="4790926"/>
            <a:ext cx="7572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www.officetimeline.com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