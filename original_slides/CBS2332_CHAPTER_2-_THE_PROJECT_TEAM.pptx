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CF91-E181-4517-80C0-E70C6BEF1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162E0-B532-4A71-A934-674120DD2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22FB4-D862-4528-BA07-27B93B91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86D4-2A91-44DB-B0F2-AF93F653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DC784-D941-4BB7-8F82-1F7B76F9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2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82C0-031D-4EC1-AC3D-D4139760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313A4-CE8C-4DC2-AF18-6493DAB34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2E3E-EF34-4A93-9FD9-C77CC34C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4F077-7DBC-4E29-8C8F-6F75BEC7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F1A4D-0757-4C27-9DF5-3A6D97E4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6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621D-FA84-466E-85BA-D0F7B1E3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50672-959E-4A81-9D26-82C0E38FF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BF508-9490-4A9A-903F-C0611E79E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E93A7-7C68-43EA-9ED3-11C2C670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3EA9E-008F-4E7C-BCB4-75E11924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409B-C75D-46DE-95D5-A2DFD951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97476-4E89-4067-BB47-B5DC4AA0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C0BDF-4C7C-4223-884F-052309A23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3DE2B-BE32-4409-AE86-A13EFFC0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CEB51-B474-4776-BCE9-95C2B5BB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C41DD-1B96-4801-855C-0BB48ADB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3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2D0A0-4218-4BC0-8DDC-C01EBCB7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27860-0573-40A1-A724-763E7D43F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34EB9-BD30-4876-904D-C64CE8FF0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03856-B583-485F-9389-7693B1535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8B03D-2465-482F-9BED-7B9E17143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434F5-E118-4EED-AFAB-D7CDB87F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B6B2E-B63E-4264-BFF9-895EE218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6BF64C-19A4-4AAA-9299-432B1054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5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FEB7-77BD-4CA9-9744-762D2358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C24FD-0819-4DAF-9F33-19A96A26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829D4-EE6B-4E63-8517-81E3D4C6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C3E1D-B63D-4815-8182-5BA501CE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84731-AC88-498D-A2E1-7D7240AF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1AE56-9B3C-48BE-B81C-300DAA438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4C38E-3102-4A96-8960-D7391858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8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82E0E-3AAE-4801-8F3E-DD35328F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81D9-FF9E-428A-A5FC-FD59C7D9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44BEF-A65C-4858-B5CE-545761C6C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23908-B133-4E3A-AAFC-8DB37C05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C8CCF-0571-4208-B6F2-932F8755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E9BBA-DC69-438C-A8B1-A06506FA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1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FAA95-4690-4FCB-BE4E-6C3046FF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E046E-B1DC-41B9-A122-C427DF09A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A1033-9E76-4075-B2A6-AF8A1967A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B0A68-95CA-4CEA-AB27-C33CF53B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E8747-BFB1-4CBE-A485-3470B591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40D61-7690-4DD3-AE87-C54C7D3BF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3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D04B-E158-43FA-BDD0-B94B73EF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D273C-0AB7-4469-BFA8-3E3CA8581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BC79F-E7AE-40B3-A443-C715B7D1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E6D47-5546-4A88-B3C4-FFA79D97B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34004-EDB7-4AD4-BF4A-70573A2D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9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91110-2889-43F6-8241-2CC4A8C29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FD4BA-5352-4475-A3B6-D2E9C25AE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FB7A9-0EB1-48E6-BAD5-2337D3E4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2E66F-D75B-40A3-8F3E-FCC21871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D3768-35EF-41A1-994B-236251F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6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F957D2-7844-4CB9-A03A-27FA2A0AA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673EF-7FE7-44F9-88CD-320A02DD1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1E5A-A5FC-410D-A9E3-261CD4465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D9833-D053-4B27-9F22-B136F7371E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22A60-0C40-46F9-9CB2-201962F5D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D67A7-3C36-412D-B9A7-621468628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5A743-30F6-4E3C-A6AA-C93EAC920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28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7593A5B-2FD2-48FA-A842-56568B243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000125"/>
            <a:ext cx="10639425" cy="5513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CDB9A7-E1C8-45CC-A7B0-CDCBF63C3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919" y="495363"/>
            <a:ext cx="7904762" cy="1009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FC10C32-00B0-4B1B-86CE-44748898A402}"/>
              </a:ext>
            </a:extLst>
          </p:cNvPr>
          <p:cNvSpPr/>
          <p:nvPr/>
        </p:nvSpPr>
        <p:spPr>
          <a:xfrm>
            <a:off x="6588919" y="3276600"/>
            <a:ext cx="4191000" cy="885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FFC84F-3E1F-4EE1-A298-7891CC33C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141" y="2335155"/>
            <a:ext cx="3848099" cy="334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8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38FD4-41A4-4D2B-9A02-8DE0E59C2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53331"/>
            <a:ext cx="10515600" cy="4351338"/>
          </a:xfrm>
        </p:spPr>
        <p:txBody>
          <a:bodyPr>
            <a:normAutofit lnSpcReduction="10000"/>
          </a:bodyPr>
          <a:lstStyle/>
          <a:p>
            <a:pPr algn="just">
              <a:buFontTx/>
              <a:buChar char="-"/>
            </a:pPr>
            <a:r>
              <a:rPr lang="en-US" dirty="0"/>
              <a:t>Most organizations' leadership or management teams set goals to support normal business operations. </a:t>
            </a:r>
          </a:p>
          <a:p>
            <a:pPr algn="just">
              <a:buFontTx/>
              <a:buChar char="-"/>
            </a:pPr>
            <a:r>
              <a:rPr lang="en-US" dirty="0"/>
              <a:t>A company may also find it necessary to create a project team tasked with improving a process or finding a solution to a problem.</a:t>
            </a:r>
          </a:p>
          <a:p>
            <a:pPr algn="just">
              <a:buFontTx/>
              <a:buChar char="-"/>
            </a:pPr>
            <a:r>
              <a:rPr lang="en-US" dirty="0"/>
              <a:t> Businesses can meet their targets and achieve success by establishing an effective project team.</a:t>
            </a:r>
          </a:p>
          <a:p>
            <a:pPr algn="just">
              <a:buFontTx/>
              <a:buChar char="-"/>
            </a:pPr>
            <a:r>
              <a:rPr lang="en-US" dirty="0"/>
              <a:t>A group of individuals working on a specific project with a similar objective is the simple answer to </a:t>
            </a:r>
            <a:r>
              <a:rPr lang="en-US" b="1" dirty="0"/>
              <a:t>'What is a project team?’. </a:t>
            </a:r>
          </a:p>
          <a:p>
            <a:pPr algn="just">
              <a:buFontTx/>
              <a:buChar char="-"/>
            </a:pPr>
            <a:r>
              <a:rPr lang="en-US" dirty="0"/>
              <a:t>Each project team member is responsible for their assigned tasks and their contribution to the project's success.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59DFA-BFE2-4D7F-B8D1-70C148F31187}"/>
              </a:ext>
            </a:extLst>
          </p:cNvPr>
          <p:cNvSpPr/>
          <p:nvPr/>
        </p:nvSpPr>
        <p:spPr>
          <a:xfrm>
            <a:off x="301297" y="309066"/>
            <a:ext cx="76841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is the Project Team?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2C5B69-FD94-4C94-801C-DFF1FF5AE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895850"/>
            <a:ext cx="3328813" cy="178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5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46078C-70BA-477E-9BE4-46CCFE864D2B}"/>
              </a:ext>
            </a:extLst>
          </p:cNvPr>
          <p:cNvSpPr/>
          <p:nvPr/>
        </p:nvSpPr>
        <p:spPr>
          <a:xfrm>
            <a:off x="292652" y="213449"/>
            <a:ext cx="1138499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2.1 Project Team Development and Effectiveness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6D883-919D-48C8-AD68-2259452D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79" y="1027828"/>
            <a:ext cx="5805195" cy="4771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ABCDEB-9AD2-43CD-8DDD-BB6255A96416}"/>
              </a:ext>
            </a:extLst>
          </p:cNvPr>
          <p:cNvSpPr/>
          <p:nvPr/>
        </p:nvSpPr>
        <p:spPr>
          <a:xfrm>
            <a:off x="395579" y="1575061"/>
            <a:ext cx="10720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Project teams, like any group, evolve through distinct stages. Understanding these stages allows project managers to anticipate challenges and facilitate team growth: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4CDDB9-38EA-48D1-85C3-6A5B394CB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02" y="2221392"/>
            <a:ext cx="4714875" cy="446347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E8E728-1929-43AB-BBB6-37A809BE1A81}"/>
              </a:ext>
            </a:extLst>
          </p:cNvPr>
          <p:cNvSpPr/>
          <p:nvPr/>
        </p:nvSpPr>
        <p:spPr>
          <a:xfrm>
            <a:off x="5372100" y="2097452"/>
            <a:ext cx="642432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Forming: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This initial stage is characterized by uncertainty and anxiety as team members get acquainted and learn about the project goals. </a:t>
            </a:r>
          </a:p>
          <a:p>
            <a:pPr algn="just"/>
            <a:r>
              <a:rPr lang="en-US" b="1" dirty="0"/>
              <a:t>Storming: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As team members become more comfortable, differences in opinions and working styles emerge, leading to potential conflict. </a:t>
            </a:r>
          </a:p>
          <a:p>
            <a:r>
              <a:rPr lang="en-US" b="1" dirty="0"/>
              <a:t>Norming: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team begins to establish norms and processes for working together. Members start to understand and appreciate each other's strengths and weaknesses.</a:t>
            </a:r>
          </a:p>
          <a:p>
            <a:pPr algn="just"/>
            <a:r>
              <a:rPr lang="en-US" b="1" dirty="0"/>
              <a:t>Performing: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team operates at its peak performance. Members are highly collaborative, autonomous, and focused on achieving project goals. </a:t>
            </a:r>
          </a:p>
          <a:p>
            <a:r>
              <a:rPr lang="en-US" b="1" dirty="0"/>
              <a:t>Adjourning:</a:t>
            </a:r>
            <a:r>
              <a:rPr lang="en-US" dirty="0"/>
              <a:t> </a:t>
            </a:r>
          </a:p>
          <a:p>
            <a:r>
              <a:rPr lang="en-US" dirty="0"/>
              <a:t>This final stage involves the dissolution of the team after the project is completed.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57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2726-FEE6-4F31-AF56-8D3F1F1F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450851"/>
            <a:ext cx="10515600" cy="635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2.1 Project Team Development and Effectiveness</a:t>
            </a:r>
            <a:b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F65FA-940C-4D4A-B552-F09199162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284" y="2159078"/>
            <a:ext cx="5943784" cy="4351338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/>
              <a:t>Clear Goals and Objectives: </a:t>
            </a:r>
            <a:r>
              <a:rPr lang="en-US" sz="1600" dirty="0"/>
              <a:t>Everyone understands the project's purpose and their individual roles in achieving it.</a:t>
            </a:r>
          </a:p>
          <a:p>
            <a:pPr algn="just"/>
            <a:r>
              <a:rPr lang="en-US" sz="1600" b="1" dirty="0"/>
              <a:t>Open Communication: </a:t>
            </a:r>
            <a:r>
              <a:rPr lang="en-US" sz="1600" dirty="0"/>
              <a:t>Team members feel comfortable sharing ideas, concerns, and feedback.</a:t>
            </a:r>
          </a:p>
          <a:p>
            <a:pPr algn="just"/>
            <a:r>
              <a:rPr lang="en-US" sz="1600" b="1" dirty="0"/>
              <a:t>Mutual Trust and Respect: </a:t>
            </a:r>
            <a:r>
              <a:rPr lang="en-US" sz="1600" dirty="0"/>
              <a:t>Members trust each other's abilities and respect their opinions.</a:t>
            </a:r>
          </a:p>
          <a:p>
            <a:pPr algn="just"/>
            <a:r>
              <a:rPr lang="en-US" sz="1600" b="1" dirty="0"/>
              <a:t>Collaboration and Cooperation: </a:t>
            </a:r>
            <a:r>
              <a:rPr lang="en-US" sz="1600" dirty="0"/>
              <a:t>Team members work together effectively to achieve common goals.</a:t>
            </a:r>
          </a:p>
          <a:p>
            <a:pPr algn="just"/>
            <a:r>
              <a:rPr lang="en-US" sz="1600" b="1" dirty="0"/>
              <a:t>Commitment and Accountability: </a:t>
            </a:r>
            <a:r>
              <a:rPr lang="en-US" sz="1600" dirty="0"/>
              <a:t>Members are committed to the project's success and take responsibility for their actions.</a:t>
            </a:r>
          </a:p>
          <a:p>
            <a:pPr algn="just"/>
            <a:r>
              <a:rPr lang="en-US" sz="1600" b="1" dirty="0"/>
              <a:t>Effective Leadership: </a:t>
            </a:r>
            <a:r>
              <a:rPr lang="en-US" sz="1600" dirty="0"/>
              <a:t>The project manager provides clear direction, support, and motivation.</a:t>
            </a:r>
          </a:p>
          <a:p>
            <a:pPr algn="just"/>
            <a:r>
              <a:rPr lang="en-US" sz="1600" b="1" dirty="0"/>
              <a:t>Constructive Conflict Resolution:</a:t>
            </a:r>
            <a:r>
              <a:rPr lang="en-US" sz="1600" dirty="0"/>
              <a:t> Disagreements are addressed openly and resolved in a way that strengthens the team.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9427C-CDDC-477D-B451-EAAE265D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34" y="998594"/>
            <a:ext cx="4000316" cy="420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F3D11E-F53A-4A09-A964-DCAF1AEC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34" y="1633595"/>
            <a:ext cx="5114741" cy="46148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324733-72A2-455A-9A40-5300CE171620}"/>
              </a:ext>
            </a:extLst>
          </p:cNvPr>
          <p:cNvSpPr/>
          <p:nvPr/>
        </p:nvSpPr>
        <p:spPr>
          <a:xfrm>
            <a:off x="5753284" y="1512747"/>
            <a:ext cx="4819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 effective project team is characterized by several key attributes:</a:t>
            </a:r>
          </a:p>
        </p:txBody>
      </p:sp>
    </p:spTree>
    <p:extLst>
      <p:ext uri="{BB962C8B-B14F-4D97-AF65-F5344CB8AC3E}">
        <p14:creationId xmlns:p14="http://schemas.microsoft.com/office/powerpoint/2010/main" val="371168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54CC-D168-46B8-82E6-78C3D98E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79715"/>
            <a:ext cx="10515600" cy="857797"/>
          </a:xfrm>
        </p:spPr>
        <p:txBody>
          <a:bodyPr>
            <a:normAutofit/>
          </a:bodyPr>
          <a:lstStyle/>
          <a:p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2.1 Project Team Development and Effectiveness</a:t>
            </a:r>
            <a:endParaRPr lang="en-US" sz="40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4A4186F-EE08-4D13-A083-AA50B8F59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25" y="1427057"/>
            <a:ext cx="6790476" cy="4190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53A4B6-2B9F-4655-B820-6B7615113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004" y="1820774"/>
            <a:ext cx="5425424" cy="48145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4B2E8A-5CF0-4C02-86A1-E8D5B1F78DFB}"/>
              </a:ext>
            </a:extLst>
          </p:cNvPr>
          <p:cNvSpPr/>
          <p:nvPr/>
        </p:nvSpPr>
        <p:spPr>
          <a:xfrm>
            <a:off x="8316229" y="2016127"/>
            <a:ext cx="38757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Poor Communication: </a:t>
            </a:r>
          </a:p>
          <a:p>
            <a:pPr algn="just"/>
            <a:r>
              <a:rPr lang="en-US" dirty="0"/>
              <a:t>Ineffective communication can result in misunderstandings, errors, and delays.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ACE3AB1-76F4-4B23-83C9-728EC6927C7F}"/>
              </a:ext>
            </a:extLst>
          </p:cNvPr>
          <p:cNvSpPr/>
          <p:nvPr/>
        </p:nvSpPr>
        <p:spPr>
          <a:xfrm rot="20885982">
            <a:off x="6102544" y="2433620"/>
            <a:ext cx="2238375" cy="296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811A6D-431C-4988-B3AB-F157DEB5F2D4}"/>
              </a:ext>
            </a:extLst>
          </p:cNvPr>
          <p:cNvSpPr/>
          <p:nvPr/>
        </p:nvSpPr>
        <p:spPr>
          <a:xfrm>
            <a:off x="8316228" y="3304740"/>
            <a:ext cx="37827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Lack of Clear Goals and Objectives: </a:t>
            </a:r>
            <a:r>
              <a:rPr lang="en-US" dirty="0"/>
              <a:t>Ambiguity about the project's purpose can lead to confusion and frustration.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FAEFACF-D3BF-4C67-8E4C-B12BDAD2F3ED}"/>
              </a:ext>
            </a:extLst>
          </p:cNvPr>
          <p:cNvSpPr/>
          <p:nvPr/>
        </p:nvSpPr>
        <p:spPr>
          <a:xfrm rot="19362841">
            <a:off x="7647592" y="3959325"/>
            <a:ext cx="821780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75B53-E77E-4447-97EC-0C90B9781E0E}"/>
              </a:ext>
            </a:extLst>
          </p:cNvPr>
          <p:cNvSpPr/>
          <p:nvPr/>
        </p:nvSpPr>
        <p:spPr>
          <a:xfrm>
            <a:off x="339030" y="2407342"/>
            <a:ext cx="24669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Interpersonal conflicts:</a:t>
            </a:r>
          </a:p>
          <a:p>
            <a:r>
              <a:rPr lang="en-US" dirty="0"/>
              <a:t>An inevitable part of the collaboration process due to the diverse perspectives and constraints inherent in any project.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E901DB21-240B-4741-8912-295624AB5DD7}"/>
              </a:ext>
            </a:extLst>
          </p:cNvPr>
          <p:cNvSpPr/>
          <p:nvPr/>
        </p:nvSpPr>
        <p:spPr>
          <a:xfrm rot="2554242">
            <a:off x="2083883" y="3733438"/>
            <a:ext cx="1475971" cy="2952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F34574-D5CE-41A7-B470-1356B9B865B6}"/>
              </a:ext>
            </a:extLst>
          </p:cNvPr>
          <p:cNvSpPr/>
          <p:nvPr/>
        </p:nvSpPr>
        <p:spPr>
          <a:xfrm>
            <a:off x="8565264" y="4746960"/>
            <a:ext cx="30733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Insufficient Resources:</a:t>
            </a:r>
          </a:p>
          <a:p>
            <a:pPr algn="just"/>
            <a:r>
              <a:rPr lang="en-US" dirty="0"/>
              <a:t>One of the most frequent triggers for team dysfunction. When the demand for time, money, or people exceeds the supply, it shifts a team from a collaborative "Performing"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7DA583C-6214-4219-8CA1-3895AED2ED08}"/>
              </a:ext>
            </a:extLst>
          </p:cNvPr>
          <p:cNvSpPr/>
          <p:nvPr/>
        </p:nvSpPr>
        <p:spPr>
          <a:xfrm>
            <a:off x="6022089" y="5869435"/>
            <a:ext cx="2543175" cy="331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74C1E4-879E-4A7D-9F33-8F7F05BBE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907276"/>
            <a:ext cx="3577095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9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24B30C-D744-4E7E-8B1F-D74B6551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93676"/>
            <a:ext cx="10515600" cy="796924"/>
          </a:xfrm>
        </p:spPr>
        <p:txBody>
          <a:bodyPr>
            <a:normAutofit/>
          </a:bodyPr>
          <a:lstStyle/>
          <a:p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2.1 Project Team Development and Effectiveness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DD7E4-7FD4-4E28-B49F-A0D846061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70" y="1019175"/>
            <a:ext cx="4043130" cy="4857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3EA9E6-B174-4481-ACFE-3FA966457C44}"/>
              </a:ext>
            </a:extLst>
          </p:cNvPr>
          <p:cNvSpPr/>
          <p:nvPr/>
        </p:nvSpPr>
        <p:spPr>
          <a:xfrm>
            <a:off x="200025" y="1533464"/>
            <a:ext cx="7372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be an effective team member, consider the following: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4672B1-4107-427E-81D7-CCAECD06D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225" y="1902796"/>
            <a:ext cx="8220076" cy="47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1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DB1C-0693-4B5E-80FE-4AD14455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63512"/>
            <a:ext cx="11115675" cy="1035050"/>
          </a:xfrm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2.2 Ethical 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C9BA4-7D00-4F15-B3AF-459C3E06D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092200"/>
            <a:ext cx="10515600" cy="4351338"/>
          </a:xfrm>
        </p:spPr>
        <p:txBody>
          <a:bodyPr/>
          <a:lstStyle/>
          <a:p>
            <a:pPr algn="just"/>
            <a:r>
              <a:rPr lang="en-US" b="1" dirty="0"/>
              <a:t>Ethical behavior </a:t>
            </a:r>
            <a:r>
              <a:rPr lang="en-US" dirty="0"/>
              <a:t>is crucial for maintaining trust and credibility in project management. </a:t>
            </a:r>
          </a:p>
          <a:p>
            <a:pPr algn="just"/>
            <a:r>
              <a:rPr lang="en-US" dirty="0"/>
              <a:t>Project managers and team members should adhere to a code of ethics that promotes honesty, integrity, fairness, and responsibility.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C3B2B-BCAF-4593-B04D-5DD0BA4E2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493" y="2857501"/>
            <a:ext cx="7085714" cy="383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1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C492-1D6A-45CF-B835-43D7345C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4151"/>
            <a:ext cx="10515600" cy="73025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2.3 Conflict on Project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FE312-B5F7-4A2D-A38B-1DA4D95EC8F9}"/>
              </a:ext>
            </a:extLst>
          </p:cNvPr>
          <p:cNvSpPr/>
          <p:nvPr/>
        </p:nvSpPr>
        <p:spPr>
          <a:xfrm>
            <a:off x="180975" y="941131"/>
            <a:ext cx="105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Conflict is inevitable in project environments, but it can be managed constructively.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F99F1-86FD-4225-928B-31DA36A5B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43" y="1383244"/>
            <a:ext cx="2600182" cy="495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3FB272-7D7C-44D8-A2F5-9A9E55EB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43" y="1864197"/>
            <a:ext cx="5791057" cy="1542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49565C-F8D4-4136-8934-40B104AF5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52" y="3571127"/>
            <a:ext cx="1733333" cy="466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1F5857-BC25-4524-8ED9-77BD9C026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52" y="4037794"/>
            <a:ext cx="5847619" cy="15142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122E83-78FE-4B66-B474-A62839A1F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943" y="5775890"/>
            <a:ext cx="1942857" cy="4857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4741FE-6C4B-45BD-812B-E2A5CBEF97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943" y="6229853"/>
            <a:ext cx="5847619" cy="5142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A20AF0-90C3-44F2-AA9F-3FF20B2A4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2324100"/>
            <a:ext cx="5476732" cy="393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7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62AA-C878-4B6E-8A68-C5029B89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50826"/>
            <a:ext cx="10515600" cy="6731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2.4 Problem Solving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EADEA3-3DBA-4A29-A052-A34F0F20C1C0}"/>
              </a:ext>
            </a:extLst>
          </p:cNvPr>
          <p:cNvSpPr/>
          <p:nvPr/>
        </p:nvSpPr>
        <p:spPr>
          <a:xfrm>
            <a:off x="171450" y="923926"/>
            <a:ext cx="114204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Problem-solving is a critical skill for project teams. Projects inevitably encounter challenges and obstacles that require creative and effective solutions. A structured approach to problem-solving can help teams identify the root cause of problems, generate potential solutions, and implement the most effective course of 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C2082-345E-43FD-8045-D0B5C8F7B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4" y="1883365"/>
            <a:ext cx="7267575" cy="459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9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383C-996A-4D19-ACB2-7A19CF23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93676"/>
            <a:ext cx="10515600" cy="9017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2.4 Problem Solving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217C5-5778-4DB2-89AA-51830574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095376"/>
            <a:ext cx="4991099" cy="5809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63D819-CB06-4836-8B67-59FF9DC3EC61}"/>
              </a:ext>
            </a:extLst>
          </p:cNvPr>
          <p:cNvSpPr/>
          <p:nvPr/>
        </p:nvSpPr>
        <p:spPr>
          <a:xfrm>
            <a:off x="428625" y="1683968"/>
            <a:ext cx="1074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structured approach to problem-solving can help teams systematically address challenges and find effective solutions. One such approach involves the following nine steps: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1BDA56-2521-4FF8-AC8E-0E91FDCE6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462" y="2356002"/>
            <a:ext cx="59721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3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5AE37-E4D8-479F-8521-B9B4010C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9367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2.4 Problem Solving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EEA3-11E4-434F-A487-9F455AEDE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7" y="1520825"/>
            <a:ext cx="10515600" cy="488632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/>
              <a:t>A collaborative process to generate many ideas for solving problems or exploring opportunities, emphasizing creativity, deferring judgment, building on others' ideas, and focusing on quantity to find innovative solutions.</a:t>
            </a:r>
          </a:p>
          <a:p>
            <a:pPr marL="0" indent="0" algn="just">
              <a:buNone/>
            </a:pPr>
            <a:r>
              <a:rPr lang="en-US" sz="2400" dirty="0">
                <a:highlight>
                  <a:srgbClr val="C0C0C0"/>
                </a:highlight>
              </a:rPr>
              <a:t>To be effective, every project team member must follow four foundational rules:</a:t>
            </a:r>
          </a:p>
          <a:p>
            <a:pPr marL="514350" indent="-514350" algn="just">
              <a:buAutoNum type="arabicParenR"/>
            </a:pPr>
            <a:r>
              <a:rPr lang="en-US" b="1" dirty="0"/>
              <a:t>Defer Judgment: </a:t>
            </a:r>
            <a:r>
              <a:rPr lang="en-US" dirty="0"/>
              <a:t>No one is allowed to criticize or evaluate ideas during the session. This encourages people to share without fear of looking "wrong.“</a:t>
            </a:r>
          </a:p>
          <a:p>
            <a:pPr marL="514350" indent="-514350" algn="just">
              <a:buAutoNum type="arabicParenR"/>
            </a:pPr>
            <a:r>
              <a:rPr lang="en-US" b="1" dirty="0"/>
              <a:t>Encourage Wild Ideas: </a:t>
            </a:r>
            <a:r>
              <a:rPr lang="en-US" dirty="0"/>
              <a:t>In a project context, sometimes the most "impossible" idea sparks a realistic, innovative solution that no one had considered.</a:t>
            </a:r>
          </a:p>
          <a:p>
            <a:pPr marL="514350" indent="-514350" algn="just">
              <a:buAutoNum type="arabicParenR"/>
            </a:pPr>
            <a:r>
              <a:rPr lang="en-US" b="1" dirty="0"/>
              <a:t>Quantity Over Quality: </a:t>
            </a:r>
            <a:r>
              <a:rPr lang="en-US" dirty="0"/>
              <a:t>The more ideas generated, the higher the probability of finding a high-quality breakthrough.</a:t>
            </a:r>
          </a:p>
          <a:p>
            <a:pPr marL="514350" indent="-514350" algn="just">
              <a:buAutoNum type="arabicParenR"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F1CEF-1F39-4933-ADBD-AAF34DA6E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37" y="857250"/>
            <a:ext cx="2390476" cy="590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BE49F8-1E64-47E1-855D-07E4070F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512" y="5605462"/>
            <a:ext cx="2390775" cy="1154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8D72AA-9171-4ADB-ACB0-2694E52FD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4037" y="96800"/>
            <a:ext cx="2676525" cy="138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6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2725-5C71-4098-933F-F4A5197F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238127"/>
            <a:ext cx="10515600" cy="749300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2.5 Time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9581A-B1E6-4FB5-8D13-E54EF536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130301"/>
            <a:ext cx="10515600" cy="561339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Systematically </a:t>
            </a:r>
            <a:r>
              <a:rPr lang="en-US" b="1" dirty="0"/>
              <a:t>planning, scheduling, monitoring, and controlling all tasks and activities</a:t>
            </a:r>
            <a:r>
              <a:rPr lang="en-US" dirty="0"/>
              <a:t> to ensure the project finishes on time, within budget, and meets its goals by efficiently using team time and resources, involving breaking work down, estimating durations, and tracking progress.</a:t>
            </a:r>
          </a:p>
          <a:p>
            <a:pPr algn="just"/>
            <a:r>
              <a:rPr lang="en-US" dirty="0">
                <a:highlight>
                  <a:srgbClr val="FFFF00"/>
                </a:highlight>
              </a:rPr>
              <a:t>Key Aspects:</a:t>
            </a:r>
          </a:p>
          <a:p>
            <a:pPr marL="0" indent="0" algn="just">
              <a:buNone/>
            </a:pPr>
            <a:r>
              <a:rPr lang="en-US" dirty="0"/>
              <a:t>   - </a:t>
            </a:r>
            <a:r>
              <a:rPr lang="en-US" b="1" dirty="0"/>
              <a:t>Planning &amp; Scheduling: </a:t>
            </a:r>
            <a:r>
              <a:rPr lang="en-US" dirty="0"/>
              <a:t>Defining tasks, estimating durations,   </a:t>
            </a:r>
          </a:p>
          <a:p>
            <a:pPr marL="0" indent="0" algn="just">
              <a:buNone/>
            </a:pPr>
            <a:r>
              <a:rPr lang="en-US" dirty="0"/>
              <a:t>     identifying dependencies, and creating a realistic timeline    </a:t>
            </a:r>
          </a:p>
          <a:p>
            <a:pPr marL="0" indent="0" algn="just">
              <a:buNone/>
            </a:pPr>
            <a:r>
              <a:rPr lang="en-US" dirty="0"/>
              <a:t>     (schedule).</a:t>
            </a:r>
          </a:p>
          <a:p>
            <a:pPr marL="0" indent="0" algn="just">
              <a:buNone/>
            </a:pPr>
            <a:r>
              <a:rPr lang="en-US" dirty="0"/>
              <a:t>  - </a:t>
            </a:r>
            <a:r>
              <a:rPr lang="en-US" b="1" dirty="0"/>
              <a:t>Resource Allocation: </a:t>
            </a:r>
            <a:r>
              <a:rPr lang="en-US" dirty="0"/>
              <a:t>Assigning the right team members and resources </a:t>
            </a:r>
          </a:p>
          <a:p>
            <a:pPr marL="0" indent="0" algn="just">
              <a:buNone/>
            </a:pPr>
            <a:r>
              <a:rPr lang="en-US" dirty="0"/>
              <a:t>     tasks at the right time for efficiency.</a:t>
            </a:r>
          </a:p>
          <a:p>
            <a:pPr marL="0" indent="0" algn="just">
              <a:buNone/>
            </a:pPr>
            <a:r>
              <a:rPr lang="en-US" dirty="0"/>
              <a:t>  - </a:t>
            </a:r>
            <a:r>
              <a:rPr lang="en-US" b="1" dirty="0"/>
              <a:t>Monitoring &amp; </a:t>
            </a:r>
            <a:r>
              <a:rPr lang="en-US" b="1" dirty="0" err="1"/>
              <a:t>Control</a:t>
            </a:r>
            <a:r>
              <a:rPr lang="en-US" dirty="0" err="1"/>
              <a:t>Tracking</a:t>
            </a:r>
            <a:r>
              <a:rPr lang="en-US" dirty="0"/>
              <a:t> progress against the schedule, managing </a:t>
            </a:r>
          </a:p>
          <a:p>
            <a:pPr marL="0" indent="0" algn="just">
              <a:buNone/>
            </a:pPr>
            <a:r>
              <a:rPr lang="en-US" dirty="0"/>
              <a:t>     delays, and making adjustments as needed.</a:t>
            </a:r>
          </a:p>
          <a:p>
            <a:pPr marL="0" indent="0" algn="just">
              <a:buNone/>
            </a:pPr>
            <a:r>
              <a:rPr lang="en-US" dirty="0"/>
              <a:t>  - </a:t>
            </a:r>
            <a:r>
              <a:rPr lang="en-US" b="1" dirty="0"/>
              <a:t>Task </a:t>
            </a:r>
            <a:r>
              <a:rPr lang="en-US" b="1" dirty="0" err="1"/>
              <a:t>Manaegement</a:t>
            </a:r>
            <a:r>
              <a:rPr lang="en-US" b="1" dirty="0"/>
              <a:t>: </a:t>
            </a:r>
            <a:r>
              <a:rPr lang="en-US" dirty="0"/>
              <a:t>Breaking large goals into smaller, manageable</a:t>
            </a:r>
          </a:p>
          <a:p>
            <a:pPr marL="0" indent="0" algn="just">
              <a:buNone/>
            </a:pPr>
            <a:r>
              <a:rPr lang="en-US" dirty="0"/>
              <a:t>     activities (work breakdown). 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>
              <a:highlight>
                <a:srgbClr val="FFFF00"/>
              </a:highlight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4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8A4F-F6C5-4962-BD52-9076E3FE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174625"/>
            <a:ext cx="10515600" cy="854075"/>
          </a:xfrm>
        </p:spPr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2.5 Time Management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7B5E8-4043-496A-A01F-8A425AA9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87" y="1254125"/>
            <a:ext cx="5424488" cy="531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CDD2B8-212F-45DB-B020-7F09FC1B9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37" y="1143000"/>
            <a:ext cx="5990476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6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903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2.1 Project Team Development and Effectiveness </vt:lpstr>
      <vt:lpstr>2.1 Project Team Development and Effectiveness</vt:lpstr>
      <vt:lpstr>2.1 Project Team Development and Effectiveness</vt:lpstr>
      <vt:lpstr>2.2 Ethical Behavior</vt:lpstr>
      <vt:lpstr>2.3 Conflict on Project</vt:lpstr>
      <vt:lpstr>2.4 Problem Solving</vt:lpstr>
      <vt:lpstr>2.4 Problem Solving</vt:lpstr>
      <vt:lpstr>2.4 Problem Solving</vt:lpstr>
      <vt:lpstr>2.5 Time Management</vt:lpstr>
      <vt:lpstr>2.5 Time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GMI-User</dc:creator>
  <cp:lastModifiedBy>GMI-User</cp:lastModifiedBy>
  <cp:revision>39</cp:revision>
  <dcterms:created xsi:type="dcterms:W3CDTF">2026-01-20T02:02:59Z</dcterms:created>
  <dcterms:modified xsi:type="dcterms:W3CDTF">2026-01-20T07:27:47Z</dcterms:modified>
</cp:coreProperties>
</file>