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8" r:id="rId4"/>
    <p:sldId id="266" r:id="rId5"/>
    <p:sldId id="267" r:id="rId6"/>
    <p:sldId id="260" r:id="rId7"/>
    <p:sldId id="257" r:id="rId8"/>
    <p:sldId id="261" r:id="rId9"/>
    <p:sldId id="262" r:id="rId10"/>
    <p:sldId id="258" r:id="rId11"/>
    <p:sldId id="263" r:id="rId12"/>
    <p:sldId id="259"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varScale="1">
        <p:scale>
          <a:sx n="100" d="100"/>
          <a:sy n="100" d="100"/>
        </p:scale>
        <p:origin x="8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16346-3BA6-4651-8768-AE00B3AC1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318B58-B00C-4FE5-BAF2-B4D158B24F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1B1D33-0773-43FB-9934-C79AE6F77CF6}"/>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5" name="Footer Placeholder 4">
            <a:extLst>
              <a:ext uri="{FF2B5EF4-FFF2-40B4-BE49-F238E27FC236}">
                <a16:creationId xmlns:a16="http://schemas.microsoft.com/office/drawing/2014/main" id="{00809F41-218E-401D-8BF0-0B06EC77F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C614E1-C92F-4032-A12E-C96AEA5EB6A9}"/>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505015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35CA5-6B5F-4289-BCC9-D0BA0A14C9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8D8BA9-97CE-4AFE-A581-436328ADF46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FE0863-2863-4EC2-82F9-79F94CD24D97}"/>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5" name="Footer Placeholder 4">
            <a:extLst>
              <a:ext uri="{FF2B5EF4-FFF2-40B4-BE49-F238E27FC236}">
                <a16:creationId xmlns:a16="http://schemas.microsoft.com/office/drawing/2014/main" id="{63571633-DBE3-4712-8092-41EE87F624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D5AA6F-EFC8-41A1-82CC-75DE6512BADA}"/>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3435461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E67EC-374A-4CAF-998D-BDB486A0FC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019026-6797-46B4-A19C-1B33578B4A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A189D89-F49C-4331-BE51-DAE2E89354CB}"/>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5" name="Footer Placeholder 4">
            <a:extLst>
              <a:ext uri="{FF2B5EF4-FFF2-40B4-BE49-F238E27FC236}">
                <a16:creationId xmlns:a16="http://schemas.microsoft.com/office/drawing/2014/main" id="{351800F9-2496-42D8-9A47-DE62F678AC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E4B907-CB42-4EDF-8393-FDEF56156DB5}"/>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4201332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ECD4F-5BA4-464E-8BBB-5347505C16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52AEE2-3C1C-46D6-8F3E-B9F5C11E9B9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D0F474-201A-42A9-917E-CC74CD270ED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A42E68-D363-42D3-8150-A4DF9D0BC8C9}"/>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6" name="Footer Placeholder 5">
            <a:extLst>
              <a:ext uri="{FF2B5EF4-FFF2-40B4-BE49-F238E27FC236}">
                <a16:creationId xmlns:a16="http://schemas.microsoft.com/office/drawing/2014/main" id="{68225E86-A63F-4400-B1F3-CFE00D3BFC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32B81E-9AE2-4A8B-8FA5-CD990CEB195A}"/>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1746882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3FD6B-C418-49A1-84D5-2C44BD27ED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B20C7A-6E79-44F0-BE99-306707A7DD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DEA60A9-9DD2-45B5-90D5-E4CAE2F7DB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361B8D-5E6E-4BCB-9DF1-56375878E6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21FA7E3-32AF-4547-AD7E-0E8DF921D14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DA1CC8-E9F7-40A9-84B5-17F83DD7247A}"/>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8" name="Footer Placeholder 7">
            <a:extLst>
              <a:ext uri="{FF2B5EF4-FFF2-40B4-BE49-F238E27FC236}">
                <a16:creationId xmlns:a16="http://schemas.microsoft.com/office/drawing/2014/main" id="{F8B8EF66-AB5D-4BF4-84D3-D9F0A76C0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FB063F-5EEC-4638-A101-CA50D5517CF7}"/>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21187766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220C-E8B0-47E2-A414-3198A1DBC9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D2C8D0-590E-41CF-A4B0-874816F9AF89}"/>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4" name="Footer Placeholder 3">
            <a:extLst>
              <a:ext uri="{FF2B5EF4-FFF2-40B4-BE49-F238E27FC236}">
                <a16:creationId xmlns:a16="http://schemas.microsoft.com/office/drawing/2014/main" id="{8D3F0B07-D4CF-4448-812E-57E26D5ED5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F51420-23EF-4C45-A58B-C70FEDBF8AD4}"/>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49641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61B9E8-D6DC-4AA5-8EFC-EDEA09EA724E}"/>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3" name="Footer Placeholder 2">
            <a:extLst>
              <a:ext uri="{FF2B5EF4-FFF2-40B4-BE49-F238E27FC236}">
                <a16:creationId xmlns:a16="http://schemas.microsoft.com/office/drawing/2014/main" id="{49A5264C-C8A3-4AE4-B137-5DB512CF8C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FE3180-1D7A-4D60-9E90-A492C5B1A67D}"/>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4262697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55CB-E79E-4EB8-B8BD-76751C3DFF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7CB340-9C83-449E-B6B6-4532FD3E30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B780BA-637D-4BBD-8915-8A2FEDBF19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3991C1D-7179-485A-9700-5F5FAD801C88}"/>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6" name="Footer Placeholder 5">
            <a:extLst>
              <a:ext uri="{FF2B5EF4-FFF2-40B4-BE49-F238E27FC236}">
                <a16:creationId xmlns:a16="http://schemas.microsoft.com/office/drawing/2014/main" id="{26937DF1-69AF-403E-8268-CDBED39BDA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5BDEBE-7F02-40DC-A846-6AD32A80F3BB}"/>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3760794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41DE7-4544-4451-8168-F6046B143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8B77FE-6C35-4BCB-BE79-3169866EC4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F138E-8496-45E6-9212-C2D15E1949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A3BC7B-A5C3-4BB3-9810-0EAF326377E6}"/>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6" name="Footer Placeholder 5">
            <a:extLst>
              <a:ext uri="{FF2B5EF4-FFF2-40B4-BE49-F238E27FC236}">
                <a16:creationId xmlns:a16="http://schemas.microsoft.com/office/drawing/2014/main" id="{AB0C3B18-1C41-4B8D-97EA-9AC1DD896F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6885DB-AAFD-4BE6-AC8E-C543249AAD7B}"/>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1661900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C298F-A300-49DE-81AD-61D0F90081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399BCB-BA45-4CEF-A6C7-0FBB4952F1D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C4BE8E-F229-4D01-9CA5-CC2D3534D7B5}"/>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5" name="Footer Placeholder 4">
            <a:extLst>
              <a:ext uri="{FF2B5EF4-FFF2-40B4-BE49-F238E27FC236}">
                <a16:creationId xmlns:a16="http://schemas.microsoft.com/office/drawing/2014/main" id="{8ADD4F33-474D-441E-99EE-7C538A305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6B0CA-7853-42E0-9080-5DAC57104A76}"/>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1217899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874C45-85B5-4A18-BA52-B219DEE9A1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085C0A-1DB8-47FA-88EC-1382E7823CB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26504-EFD0-43B5-A2B5-140290B37A6B}"/>
              </a:ext>
            </a:extLst>
          </p:cNvPr>
          <p:cNvSpPr>
            <a:spLocks noGrp="1"/>
          </p:cNvSpPr>
          <p:nvPr>
            <p:ph type="dt" sz="half" idx="10"/>
          </p:nvPr>
        </p:nvSpPr>
        <p:spPr/>
        <p:txBody>
          <a:bodyPr/>
          <a:lstStyle/>
          <a:p>
            <a:fld id="{A8D8750F-BEE3-4772-8836-41F7D160C3A0}" type="datetimeFigureOut">
              <a:rPr lang="en-US" smtClean="0"/>
              <a:t>1/11/2026</a:t>
            </a:fld>
            <a:endParaRPr lang="en-US"/>
          </a:p>
        </p:txBody>
      </p:sp>
      <p:sp>
        <p:nvSpPr>
          <p:cNvPr id="5" name="Footer Placeholder 4">
            <a:extLst>
              <a:ext uri="{FF2B5EF4-FFF2-40B4-BE49-F238E27FC236}">
                <a16:creationId xmlns:a16="http://schemas.microsoft.com/office/drawing/2014/main" id="{1B664DA5-2DCE-4001-B86B-95E53CDFE0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360A01-9EE3-4904-BCCB-2F35CABCF16B}"/>
              </a:ext>
            </a:extLst>
          </p:cNvPr>
          <p:cNvSpPr>
            <a:spLocks noGrp="1"/>
          </p:cNvSpPr>
          <p:nvPr>
            <p:ph type="sldNum" sz="quarter" idx="12"/>
          </p:nvPr>
        </p:nvSpPr>
        <p:spPr/>
        <p:txBody>
          <a:bodyPr/>
          <a:lstStyle/>
          <a:p>
            <a:fld id="{7B9147A6-0C10-4808-B734-A44C5AAEF3D0}" type="slidenum">
              <a:rPr lang="en-US" smtClean="0"/>
              <a:t>‹#›</a:t>
            </a:fld>
            <a:endParaRPr lang="en-US"/>
          </a:p>
        </p:txBody>
      </p:sp>
    </p:spTree>
    <p:extLst>
      <p:ext uri="{BB962C8B-B14F-4D97-AF65-F5344CB8AC3E}">
        <p14:creationId xmlns:p14="http://schemas.microsoft.com/office/powerpoint/2010/main" val="3585334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B26B2C-4A13-4959-8D65-0F960FF8F0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D6DEF3-1D30-40A1-A5D9-871415FB1E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49EFBF-298E-45F9-8D81-91A6343756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8750F-BEE3-4772-8836-41F7D160C3A0}" type="datetimeFigureOut">
              <a:rPr lang="en-US" smtClean="0"/>
              <a:t>1/11/2026</a:t>
            </a:fld>
            <a:endParaRPr lang="en-US"/>
          </a:p>
        </p:txBody>
      </p:sp>
      <p:sp>
        <p:nvSpPr>
          <p:cNvPr id="5" name="Footer Placeholder 4">
            <a:extLst>
              <a:ext uri="{FF2B5EF4-FFF2-40B4-BE49-F238E27FC236}">
                <a16:creationId xmlns:a16="http://schemas.microsoft.com/office/drawing/2014/main" id="{1448BB37-E1EA-4DA3-99BD-D1A2217A6F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3E70319-C97C-422B-9CE4-94FAC3C805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9147A6-0C10-4808-B734-A44C5AAEF3D0}" type="slidenum">
              <a:rPr lang="en-US" smtClean="0"/>
              <a:t>‹#›</a:t>
            </a:fld>
            <a:endParaRPr lang="en-US"/>
          </a:p>
        </p:txBody>
      </p:sp>
    </p:spTree>
    <p:extLst>
      <p:ext uri="{BB962C8B-B14F-4D97-AF65-F5344CB8AC3E}">
        <p14:creationId xmlns:p14="http://schemas.microsoft.com/office/powerpoint/2010/main" val="3673096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862AD-4629-45E5-8C8C-B4E164B86730}"/>
              </a:ext>
            </a:extLst>
          </p:cNvPr>
          <p:cNvSpPr>
            <a:spLocks noGrp="1"/>
          </p:cNvSpPr>
          <p:nvPr>
            <p:ph type="ctrTitle"/>
          </p:nvPr>
        </p:nvSpPr>
        <p:spPr>
          <a:xfrm>
            <a:off x="1066800" y="380999"/>
            <a:ext cx="9144000" cy="1663701"/>
          </a:xfrm>
        </p:spPr>
        <p:txBody>
          <a:bodyPr>
            <a:normAutofit fontScale="90000"/>
          </a:bodyPr>
          <a:lstStyle/>
          <a:p>
            <a:r>
              <a:rPr lang="en-US" dirty="0"/>
              <a:t>Topic 1</a:t>
            </a:r>
            <a:br>
              <a:rPr lang="en-US" dirty="0"/>
            </a:br>
            <a:r>
              <a:rPr lang="en-US" dirty="0"/>
              <a:t>Project Management Concepts</a:t>
            </a:r>
          </a:p>
        </p:txBody>
      </p:sp>
      <p:pic>
        <p:nvPicPr>
          <p:cNvPr id="5" name="Picture 4">
            <a:extLst>
              <a:ext uri="{FF2B5EF4-FFF2-40B4-BE49-F238E27FC236}">
                <a16:creationId xmlns:a16="http://schemas.microsoft.com/office/drawing/2014/main" id="{DC4497F4-2729-4EF8-83A5-9265EB6607AE}"/>
              </a:ext>
            </a:extLst>
          </p:cNvPr>
          <p:cNvPicPr>
            <a:picLocks noChangeAspect="1"/>
          </p:cNvPicPr>
          <p:nvPr/>
        </p:nvPicPr>
        <p:blipFill>
          <a:blip r:embed="rId2"/>
          <a:stretch>
            <a:fillRect/>
          </a:stretch>
        </p:blipFill>
        <p:spPr>
          <a:xfrm>
            <a:off x="638175" y="2168524"/>
            <a:ext cx="10725150" cy="4470401"/>
          </a:xfrm>
          <a:prstGeom prst="rect">
            <a:avLst/>
          </a:prstGeom>
        </p:spPr>
      </p:pic>
      <p:sp>
        <p:nvSpPr>
          <p:cNvPr id="6" name="Rectangle 5">
            <a:extLst>
              <a:ext uri="{FF2B5EF4-FFF2-40B4-BE49-F238E27FC236}">
                <a16:creationId xmlns:a16="http://schemas.microsoft.com/office/drawing/2014/main" id="{401F47B6-9BC8-4F8C-BB48-BEB6BDA0B4C2}"/>
              </a:ext>
            </a:extLst>
          </p:cNvPr>
          <p:cNvSpPr/>
          <p:nvPr/>
        </p:nvSpPr>
        <p:spPr>
          <a:xfrm>
            <a:off x="1502915" y="2551837"/>
            <a:ext cx="9186169" cy="1754326"/>
          </a:xfrm>
          <a:prstGeom prst="rect">
            <a:avLst/>
          </a:prstGeom>
          <a:noFill/>
        </p:spPr>
        <p:txBody>
          <a:bodyPr wrap="none" lIns="91440" tIns="45720" rIns="91440" bIns="45720">
            <a:spAutoFit/>
          </a:bodyPr>
          <a:lstStyle/>
          <a:p>
            <a:pPr algn="ctr"/>
            <a:r>
              <a:rPr lang="en-US" sz="5400" b="1" cap="none" spc="50">
                <a:ln w="9525" cmpd="sng">
                  <a:solidFill>
                    <a:schemeClr val="accent1"/>
                  </a:solidFill>
                  <a:prstDash val="solid"/>
                </a:ln>
                <a:solidFill>
                  <a:srgbClr val="70AD47">
                    <a:tint val="1000"/>
                  </a:srgbClr>
                </a:solidFill>
                <a:effectLst>
                  <a:glow rad="38100">
                    <a:schemeClr val="accent1">
                      <a:alpha val="40000"/>
                    </a:schemeClr>
                  </a:glow>
                </a:effectLst>
              </a:rPr>
              <a:t>Topic 1</a:t>
            </a:r>
            <a:br>
              <a:rPr lang="en-US" sz="5400" b="1" cap="none" spc="50">
                <a:ln w="9525" cmpd="sng">
                  <a:solidFill>
                    <a:schemeClr val="accent1"/>
                  </a:solidFill>
                  <a:prstDash val="solid"/>
                </a:ln>
                <a:solidFill>
                  <a:srgbClr val="70AD47">
                    <a:tint val="1000"/>
                  </a:srgbClr>
                </a:solidFill>
                <a:effectLst>
                  <a:glow rad="38100">
                    <a:schemeClr val="accent1">
                      <a:alpha val="40000"/>
                    </a:schemeClr>
                  </a:glow>
                </a:effectLst>
              </a:rPr>
            </a:br>
            <a:r>
              <a:rPr lang="en-US" sz="5400" b="1" cap="none" spc="50">
                <a:ln w="9525" cmpd="sng">
                  <a:solidFill>
                    <a:schemeClr val="accent1"/>
                  </a:solidFill>
                  <a:prstDash val="solid"/>
                </a:ln>
                <a:solidFill>
                  <a:srgbClr val="70AD47">
                    <a:tint val="1000"/>
                  </a:srgbClr>
                </a:solidFill>
                <a:effectLst>
                  <a:glow rad="38100">
                    <a:schemeClr val="accent1">
                      <a:alpha val="40000"/>
                    </a:schemeClr>
                  </a:glow>
                </a:effectLst>
              </a:rPr>
              <a:t>Project Management Concepts</a:t>
            </a: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Tree>
    <p:extLst>
      <p:ext uri="{BB962C8B-B14F-4D97-AF65-F5344CB8AC3E}">
        <p14:creationId xmlns:p14="http://schemas.microsoft.com/office/powerpoint/2010/main" val="2845892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4F680E-15F3-4E40-A7CB-10711789C61D}"/>
              </a:ext>
            </a:extLst>
          </p:cNvPr>
          <p:cNvPicPr>
            <a:picLocks noChangeAspect="1"/>
          </p:cNvPicPr>
          <p:nvPr/>
        </p:nvPicPr>
        <p:blipFill>
          <a:blip r:embed="rId2"/>
          <a:stretch>
            <a:fillRect/>
          </a:stretch>
        </p:blipFill>
        <p:spPr>
          <a:xfrm>
            <a:off x="6096001" y="2819602"/>
            <a:ext cx="5933333" cy="3580952"/>
          </a:xfrm>
          <a:prstGeom prst="rect">
            <a:avLst/>
          </a:prstGeom>
        </p:spPr>
      </p:pic>
      <p:sp>
        <p:nvSpPr>
          <p:cNvPr id="6" name="Rectangle 5">
            <a:extLst>
              <a:ext uri="{FF2B5EF4-FFF2-40B4-BE49-F238E27FC236}">
                <a16:creationId xmlns:a16="http://schemas.microsoft.com/office/drawing/2014/main" id="{A8C52D0E-B7C2-4F13-B21F-735EE82248CE}"/>
              </a:ext>
            </a:extLst>
          </p:cNvPr>
          <p:cNvSpPr/>
          <p:nvPr/>
        </p:nvSpPr>
        <p:spPr>
          <a:xfrm>
            <a:off x="552450" y="2028825"/>
            <a:ext cx="4181475" cy="371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9D2A8A7-4F91-493B-8B74-1C6D9761A7B0}"/>
              </a:ext>
            </a:extLst>
          </p:cNvPr>
          <p:cNvPicPr>
            <a:picLocks noChangeAspect="1"/>
          </p:cNvPicPr>
          <p:nvPr/>
        </p:nvPicPr>
        <p:blipFill>
          <a:blip r:embed="rId3"/>
          <a:stretch>
            <a:fillRect/>
          </a:stretch>
        </p:blipFill>
        <p:spPr>
          <a:xfrm>
            <a:off x="162666" y="452936"/>
            <a:ext cx="5828571" cy="4733333"/>
          </a:xfrm>
          <a:prstGeom prst="rect">
            <a:avLst/>
          </a:prstGeom>
        </p:spPr>
      </p:pic>
    </p:spTree>
    <p:extLst>
      <p:ext uri="{BB962C8B-B14F-4D97-AF65-F5344CB8AC3E}">
        <p14:creationId xmlns:p14="http://schemas.microsoft.com/office/powerpoint/2010/main" val="1281038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371E6-9C4B-4E7A-85BD-7CE432C561F4}"/>
              </a:ext>
            </a:extLst>
          </p:cNvPr>
          <p:cNvSpPr>
            <a:spLocks noGrp="1"/>
          </p:cNvSpPr>
          <p:nvPr>
            <p:ph type="title"/>
          </p:nvPr>
        </p:nvSpPr>
        <p:spPr>
          <a:xfrm>
            <a:off x="145181" y="461379"/>
            <a:ext cx="10515600" cy="664778"/>
          </a:xfrm>
        </p:spPr>
        <p:txBody>
          <a:bodyPr>
            <a:normAutofit fontScale="90000"/>
          </a:bodyPr>
          <a:lstStyle/>
          <a:p>
            <a:r>
              <a:rPr lang="en-US" b="1" dirty="0"/>
              <a:t>Project Management in Cyber Security</a:t>
            </a:r>
            <a:br>
              <a:rPr lang="en-US" b="1" dirty="0"/>
            </a:br>
            <a:endParaRPr lang="en-US" dirty="0"/>
          </a:p>
        </p:txBody>
      </p:sp>
      <p:pic>
        <p:nvPicPr>
          <p:cNvPr id="4" name="Content Placeholder 3">
            <a:extLst>
              <a:ext uri="{FF2B5EF4-FFF2-40B4-BE49-F238E27FC236}">
                <a16:creationId xmlns:a16="http://schemas.microsoft.com/office/drawing/2014/main" id="{D34120AB-0541-4DE8-A072-A0C817301017}"/>
              </a:ext>
            </a:extLst>
          </p:cNvPr>
          <p:cNvPicPr>
            <a:picLocks noGrp="1" noChangeAspect="1"/>
          </p:cNvPicPr>
          <p:nvPr>
            <p:ph idx="1"/>
          </p:nvPr>
        </p:nvPicPr>
        <p:blipFill>
          <a:blip r:embed="rId2"/>
          <a:stretch>
            <a:fillRect/>
          </a:stretch>
        </p:blipFill>
        <p:spPr>
          <a:xfrm>
            <a:off x="62815" y="776925"/>
            <a:ext cx="10680332" cy="1463039"/>
          </a:xfrm>
          <a:prstGeom prst="rect">
            <a:avLst/>
          </a:prstGeom>
        </p:spPr>
      </p:pic>
      <p:pic>
        <p:nvPicPr>
          <p:cNvPr id="6" name="Picture 5">
            <a:extLst>
              <a:ext uri="{FF2B5EF4-FFF2-40B4-BE49-F238E27FC236}">
                <a16:creationId xmlns:a16="http://schemas.microsoft.com/office/drawing/2014/main" id="{20CA868B-7B96-47B5-97C5-F32733DDF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0498" y="2151246"/>
            <a:ext cx="6858000" cy="4470935"/>
          </a:xfrm>
          <a:prstGeom prst="rect">
            <a:avLst/>
          </a:prstGeom>
        </p:spPr>
      </p:pic>
      <p:sp>
        <p:nvSpPr>
          <p:cNvPr id="10" name="Rectangle 9">
            <a:extLst>
              <a:ext uri="{FF2B5EF4-FFF2-40B4-BE49-F238E27FC236}">
                <a16:creationId xmlns:a16="http://schemas.microsoft.com/office/drawing/2014/main" id="{A6A162B6-D50D-4EB2-8B9D-BDCB24B246DE}"/>
              </a:ext>
            </a:extLst>
          </p:cNvPr>
          <p:cNvSpPr/>
          <p:nvPr/>
        </p:nvSpPr>
        <p:spPr>
          <a:xfrm>
            <a:off x="6997566" y="6064232"/>
            <a:ext cx="1732548" cy="375385"/>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8333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B8E1A-7E85-40F2-B5F8-FFAE1D79506C}"/>
              </a:ext>
            </a:extLst>
          </p:cNvPr>
          <p:cNvSpPr>
            <a:spLocks noGrp="1"/>
          </p:cNvSpPr>
          <p:nvPr>
            <p:ph type="title"/>
          </p:nvPr>
        </p:nvSpPr>
        <p:spPr>
          <a:xfrm>
            <a:off x="66675" y="1"/>
            <a:ext cx="10515600" cy="1020278"/>
          </a:xfrm>
        </p:spPr>
        <p:txBody>
          <a:bodyPr/>
          <a:lstStyle/>
          <a:p>
            <a:r>
              <a:rPr lang="en-US" dirty="0"/>
              <a:t>Security Concepts</a:t>
            </a:r>
          </a:p>
        </p:txBody>
      </p:sp>
      <p:pic>
        <p:nvPicPr>
          <p:cNvPr id="4" name="Content Placeholder 3">
            <a:extLst>
              <a:ext uri="{FF2B5EF4-FFF2-40B4-BE49-F238E27FC236}">
                <a16:creationId xmlns:a16="http://schemas.microsoft.com/office/drawing/2014/main" id="{5D150F6D-ABB0-4FE1-BCA0-8CA47990C8A2}"/>
              </a:ext>
            </a:extLst>
          </p:cNvPr>
          <p:cNvPicPr>
            <a:picLocks noGrp="1" noChangeAspect="1"/>
          </p:cNvPicPr>
          <p:nvPr>
            <p:ph idx="1"/>
          </p:nvPr>
        </p:nvPicPr>
        <p:blipFill>
          <a:blip r:embed="rId2"/>
          <a:stretch>
            <a:fillRect/>
          </a:stretch>
        </p:blipFill>
        <p:spPr>
          <a:xfrm>
            <a:off x="6096000" y="845931"/>
            <a:ext cx="5553776" cy="3756733"/>
          </a:xfrm>
          <a:prstGeom prst="rect">
            <a:avLst/>
          </a:prstGeom>
        </p:spPr>
      </p:pic>
      <p:pic>
        <p:nvPicPr>
          <p:cNvPr id="7" name="Picture 6">
            <a:extLst>
              <a:ext uri="{FF2B5EF4-FFF2-40B4-BE49-F238E27FC236}">
                <a16:creationId xmlns:a16="http://schemas.microsoft.com/office/drawing/2014/main" id="{06050433-7F3C-4697-92F4-CD2982EFD8F1}"/>
              </a:ext>
            </a:extLst>
          </p:cNvPr>
          <p:cNvPicPr>
            <a:picLocks noChangeAspect="1"/>
          </p:cNvPicPr>
          <p:nvPr/>
        </p:nvPicPr>
        <p:blipFill>
          <a:blip r:embed="rId3"/>
          <a:stretch>
            <a:fillRect/>
          </a:stretch>
        </p:blipFill>
        <p:spPr>
          <a:xfrm>
            <a:off x="2473694" y="4505318"/>
            <a:ext cx="6524028" cy="2145740"/>
          </a:xfrm>
          <a:prstGeom prst="rect">
            <a:avLst/>
          </a:prstGeom>
        </p:spPr>
      </p:pic>
      <p:pic>
        <p:nvPicPr>
          <p:cNvPr id="8" name="Picture 7">
            <a:extLst>
              <a:ext uri="{FF2B5EF4-FFF2-40B4-BE49-F238E27FC236}">
                <a16:creationId xmlns:a16="http://schemas.microsoft.com/office/drawing/2014/main" id="{954D291D-B0D7-4BDE-8098-32DD224B2407}"/>
              </a:ext>
            </a:extLst>
          </p:cNvPr>
          <p:cNvPicPr>
            <a:picLocks noChangeAspect="1"/>
          </p:cNvPicPr>
          <p:nvPr/>
        </p:nvPicPr>
        <p:blipFill>
          <a:blip r:embed="rId4"/>
          <a:stretch>
            <a:fillRect/>
          </a:stretch>
        </p:blipFill>
        <p:spPr>
          <a:xfrm>
            <a:off x="0" y="790221"/>
            <a:ext cx="6101726" cy="3638095"/>
          </a:xfrm>
          <a:prstGeom prst="rect">
            <a:avLst/>
          </a:prstGeom>
        </p:spPr>
      </p:pic>
    </p:spTree>
    <p:extLst>
      <p:ext uri="{BB962C8B-B14F-4D97-AF65-F5344CB8AC3E}">
        <p14:creationId xmlns:p14="http://schemas.microsoft.com/office/powerpoint/2010/main" val="1451357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2BD5B0-A112-4943-B368-4EB3A7FC1A85}"/>
              </a:ext>
            </a:extLst>
          </p:cNvPr>
          <p:cNvPicPr>
            <a:picLocks noChangeAspect="1"/>
          </p:cNvPicPr>
          <p:nvPr/>
        </p:nvPicPr>
        <p:blipFill>
          <a:blip r:embed="rId2"/>
          <a:stretch>
            <a:fillRect/>
          </a:stretch>
        </p:blipFill>
        <p:spPr>
          <a:xfrm>
            <a:off x="173255" y="1674796"/>
            <a:ext cx="5072515" cy="4652747"/>
          </a:xfrm>
          <a:prstGeom prst="rect">
            <a:avLst/>
          </a:prstGeom>
        </p:spPr>
      </p:pic>
      <p:pic>
        <p:nvPicPr>
          <p:cNvPr id="5" name="Picture 4">
            <a:extLst>
              <a:ext uri="{FF2B5EF4-FFF2-40B4-BE49-F238E27FC236}">
                <a16:creationId xmlns:a16="http://schemas.microsoft.com/office/drawing/2014/main" id="{B7E7E40C-7380-4B0E-8EFC-D656B4A78806}"/>
              </a:ext>
            </a:extLst>
          </p:cNvPr>
          <p:cNvPicPr>
            <a:picLocks noChangeAspect="1"/>
          </p:cNvPicPr>
          <p:nvPr/>
        </p:nvPicPr>
        <p:blipFill>
          <a:blip r:embed="rId3"/>
          <a:stretch>
            <a:fillRect/>
          </a:stretch>
        </p:blipFill>
        <p:spPr>
          <a:xfrm>
            <a:off x="173255" y="167362"/>
            <a:ext cx="11107554" cy="1334180"/>
          </a:xfrm>
          <a:prstGeom prst="rect">
            <a:avLst/>
          </a:prstGeom>
        </p:spPr>
      </p:pic>
      <p:pic>
        <p:nvPicPr>
          <p:cNvPr id="6" name="Picture 5">
            <a:extLst>
              <a:ext uri="{FF2B5EF4-FFF2-40B4-BE49-F238E27FC236}">
                <a16:creationId xmlns:a16="http://schemas.microsoft.com/office/drawing/2014/main" id="{09BD0B6A-51B2-4FC8-ACD2-76498AC91416}"/>
              </a:ext>
            </a:extLst>
          </p:cNvPr>
          <p:cNvPicPr>
            <a:picLocks noChangeAspect="1"/>
          </p:cNvPicPr>
          <p:nvPr/>
        </p:nvPicPr>
        <p:blipFill>
          <a:blip r:embed="rId4"/>
          <a:stretch>
            <a:fillRect/>
          </a:stretch>
        </p:blipFill>
        <p:spPr>
          <a:xfrm>
            <a:off x="4995512" y="1559293"/>
            <a:ext cx="7023233" cy="5298707"/>
          </a:xfrm>
          <a:prstGeom prst="rect">
            <a:avLst/>
          </a:prstGeom>
        </p:spPr>
      </p:pic>
    </p:spTree>
    <p:extLst>
      <p:ext uri="{BB962C8B-B14F-4D97-AF65-F5344CB8AC3E}">
        <p14:creationId xmlns:p14="http://schemas.microsoft.com/office/powerpoint/2010/main" val="2317316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B9E17-3013-4023-97D9-0D0149004A2D}"/>
              </a:ext>
            </a:extLst>
          </p:cNvPr>
          <p:cNvSpPr>
            <a:spLocks noGrp="1"/>
          </p:cNvSpPr>
          <p:nvPr>
            <p:ph type="title"/>
          </p:nvPr>
        </p:nvSpPr>
        <p:spPr>
          <a:xfrm>
            <a:off x="838200" y="365125"/>
            <a:ext cx="10515600" cy="758825"/>
          </a:xfrm>
        </p:spPr>
        <p:txBody>
          <a:bodyPr>
            <a:normAutofit fontScale="90000"/>
          </a:bodyPr>
          <a:lstStyle/>
          <a:p>
            <a:r>
              <a:rPr lang="en-US" b="1" dirty="0"/>
              <a:t>Attributes of a Project</a:t>
            </a:r>
            <a:br>
              <a:rPr lang="en-US" b="1" dirty="0"/>
            </a:br>
            <a:endParaRPr lang="en-US" dirty="0"/>
          </a:p>
        </p:txBody>
      </p:sp>
      <p:pic>
        <p:nvPicPr>
          <p:cNvPr id="4" name="Content Placeholder 3">
            <a:extLst>
              <a:ext uri="{FF2B5EF4-FFF2-40B4-BE49-F238E27FC236}">
                <a16:creationId xmlns:a16="http://schemas.microsoft.com/office/drawing/2014/main" id="{A903208A-20A1-46DE-AD35-50A61494A754}"/>
              </a:ext>
            </a:extLst>
          </p:cNvPr>
          <p:cNvPicPr>
            <a:picLocks noGrp="1" noChangeAspect="1"/>
          </p:cNvPicPr>
          <p:nvPr>
            <p:ph idx="1"/>
          </p:nvPr>
        </p:nvPicPr>
        <p:blipFill>
          <a:blip r:embed="rId2"/>
          <a:stretch>
            <a:fillRect/>
          </a:stretch>
        </p:blipFill>
        <p:spPr>
          <a:xfrm>
            <a:off x="1363134" y="2167185"/>
            <a:ext cx="8476190" cy="3971429"/>
          </a:xfrm>
          <a:prstGeom prst="rect">
            <a:avLst/>
          </a:prstGeom>
        </p:spPr>
      </p:pic>
      <p:pic>
        <p:nvPicPr>
          <p:cNvPr id="5" name="Picture 4">
            <a:extLst>
              <a:ext uri="{FF2B5EF4-FFF2-40B4-BE49-F238E27FC236}">
                <a16:creationId xmlns:a16="http://schemas.microsoft.com/office/drawing/2014/main" id="{822AD1FC-EF4D-4FAF-A600-4720E6A70EE9}"/>
              </a:ext>
            </a:extLst>
          </p:cNvPr>
          <p:cNvPicPr>
            <a:picLocks noChangeAspect="1"/>
          </p:cNvPicPr>
          <p:nvPr/>
        </p:nvPicPr>
        <p:blipFill>
          <a:blip r:embed="rId3"/>
          <a:stretch>
            <a:fillRect/>
          </a:stretch>
        </p:blipFill>
        <p:spPr>
          <a:xfrm>
            <a:off x="914835" y="962093"/>
            <a:ext cx="9191190" cy="1085714"/>
          </a:xfrm>
          <a:prstGeom prst="rect">
            <a:avLst/>
          </a:prstGeom>
        </p:spPr>
      </p:pic>
    </p:spTree>
    <p:extLst>
      <p:ext uri="{BB962C8B-B14F-4D97-AF65-F5344CB8AC3E}">
        <p14:creationId xmlns:p14="http://schemas.microsoft.com/office/powerpoint/2010/main" val="1244974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5390B-2188-4253-AD2E-DEC35F729901}"/>
              </a:ext>
            </a:extLst>
          </p:cNvPr>
          <p:cNvSpPr>
            <a:spLocks noGrp="1"/>
          </p:cNvSpPr>
          <p:nvPr>
            <p:ph type="title"/>
          </p:nvPr>
        </p:nvSpPr>
        <p:spPr>
          <a:xfrm>
            <a:off x="308810" y="239997"/>
            <a:ext cx="10515600" cy="1325563"/>
          </a:xfrm>
        </p:spPr>
        <p:txBody>
          <a:bodyPr/>
          <a:lstStyle/>
          <a:p>
            <a:r>
              <a:rPr lang="en-US" dirty="0"/>
              <a:t>1.1 Attribute of a Project</a:t>
            </a:r>
          </a:p>
        </p:txBody>
      </p:sp>
      <p:sp>
        <p:nvSpPr>
          <p:cNvPr id="3" name="Content Placeholder 2">
            <a:extLst>
              <a:ext uri="{FF2B5EF4-FFF2-40B4-BE49-F238E27FC236}">
                <a16:creationId xmlns:a16="http://schemas.microsoft.com/office/drawing/2014/main" id="{F59E7092-F882-492A-BAB6-F2B164739451}"/>
              </a:ext>
            </a:extLst>
          </p:cNvPr>
          <p:cNvSpPr>
            <a:spLocks noGrp="1"/>
          </p:cNvSpPr>
          <p:nvPr>
            <p:ph idx="1"/>
          </p:nvPr>
        </p:nvSpPr>
        <p:spPr/>
        <p:txBody>
          <a:bodyPr>
            <a:normAutofit fontScale="85000" lnSpcReduction="20000"/>
          </a:bodyPr>
          <a:lstStyle/>
          <a:p>
            <a:pPr algn="just"/>
            <a:r>
              <a:rPr lang="en-US" b="1" dirty="0"/>
              <a:t>Core Definition:</a:t>
            </a:r>
            <a:r>
              <a:rPr lang="en-US" dirty="0"/>
              <a:t> A project is a temporary endeavor undertaken to create a unique product, service, or result.</a:t>
            </a:r>
          </a:p>
          <a:p>
            <a:pPr algn="just"/>
            <a:r>
              <a:rPr lang="en-US" b="1" dirty="0"/>
              <a:t>Temporary:</a:t>
            </a:r>
            <a:r>
              <a:rPr lang="en-US" dirty="0"/>
              <a:t> Every project has a definite </a:t>
            </a:r>
            <a:r>
              <a:rPr lang="en-US" b="1" dirty="0"/>
              <a:t>beginning and end</a:t>
            </a:r>
            <a:r>
              <a:rPr lang="en-US" dirty="0"/>
              <a:t>.</a:t>
            </a:r>
          </a:p>
          <a:p>
            <a:pPr algn="just"/>
            <a:r>
              <a:rPr lang="en-US" b="1" dirty="0"/>
              <a:t>Unique Purpose:</a:t>
            </a:r>
            <a:r>
              <a:rPr lang="en-US" dirty="0"/>
              <a:t> It is not a routine operation; it results in a specific "deliverable."</a:t>
            </a:r>
          </a:p>
          <a:p>
            <a:pPr algn="just"/>
            <a:r>
              <a:rPr lang="en-US" b="1" dirty="0"/>
              <a:t>Progressive Elaboration:</a:t>
            </a:r>
            <a:r>
              <a:rPr lang="en-US" dirty="0"/>
              <a:t> Projects are developed in steps and continue by increments.</a:t>
            </a:r>
          </a:p>
          <a:p>
            <a:pPr algn="just"/>
            <a:r>
              <a:rPr lang="en-US" b="1" dirty="0"/>
              <a:t>Resource Consuming:</a:t>
            </a:r>
            <a:r>
              <a:rPr lang="en-US" dirty="0"/>
              <a:t> Requires various resources (human, financial, and hardware/software).</a:t>
            </a:r>
          </a:p>
          <a:p>
            <a:pPr algn="just"/>
            <a:r>
              <a:rPr lang="en-US" b="1" dirty="0"/>
              <a:t>Primary Sponsor:</a:t>
            </a:r>
            <a:r>
              <a:rPr lang="en-US" dirty="0"/>
              <a:t> Usually has a main stakeholder or "Champion" who provides direction and funding.</a:t>
            </a:r>
          </a:p>
          <a:p>
            <a:pPr algn="just"/>
            <a:r>
              <a:rPr lang="en-US" b="1" dirty="0"/>
              <a:t>Uncertainty:</a:t>
            </a:r>
            <a:r>
              <a:rPr lang="en-US" dirty="0"/>
              <a:t> Because every project is unique, it carries a degree of risk and unknowns.</a:t>
            </a:r>
          </a:p>
          <a:p>
            <a:endParaRPr lang="en-US" dirty="0"/>
          </a:p>
        </p:txBody>
      </p:sp>
    </p:spTree>
    <p:extLst>
      <p:ext uri="{BB962C8B-B14F-4D97-AF65-F5344CB8AC3E}">
        <p14:creationId xmlns:p14="http://schemas.microsoft.com/office/powerpoint/2010/main" val="3633981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A229E-7DAE-47E4-B8C1-C76E3CFC638E}"/>
              </a:ext>
            </a:extLst>
          </p:cNvPr>
          <p:cNvSpPr>
            <a:spLocks noGrp="1"/>
          </p:cNvSpPr>
          <p:nvPr>
            <p:ph type="title"/>
          </p:nvPr>
        </p:nvSpPr>
        <p:spPr>
          <a:xfrm>
            <a:off x="257175" y="187325"/>
            <a:ext cx="10515600" cy="822325"/>
          </a:xfrm>
        </p:spPr>
        <p:txBody>
          <a:bodyPr/>
          <a:lstStyle/>
          <a:p>
            <a:r>
              <a:rPr lang="en-US" dirty="0"/>
              <a:t>1.2 Project Life Cycle</a:t>
            </a:r>
          </a:p>
        </p:txBody>
      </p:sp>
      <p:pic>
        <p:nvPicPr>
          <p:cNvPr id="5" name="Picture 4">
            <a:extLst>
              <a:ext uri="{FF2B5EF4-FFF2-40B4-BE49-F238E27FC236}">
                <a16:creationId xmlns:a16="http://schemas.microsoft.com/office/drawing/2014/main" id="{FD02B149-D829-490E-B008-CFDD10D6614D}"/>
              </a:ext>
            </a:extLst>
          </p:cNvPr>
          <p:cNvPicPr>
            <a:picLocks noChangeAspect="1"/>
          </p:cNvPicPr>
          <p:nvPr/>
        </p:nvPicPr>
        <p:blipFill>
          <a:blip r:embed="rId2"/>
          <a:stretch>
            <a:fillRect/>
          </a:stretch>
        </p:blipFill>
        <p:spPr>
          <a:xfrm>
            <a:off x="1253090" y="2266950"/>
            <a:ext cx="8847619" cy="4490750"/>
          </a:xfrm>
          <a:prstGeom prst="rect">
            <a:avLst/>
          </a:prstGeom>
        </p:spPr>
      </p:pic>
      <p:sp>
        <p:nvSpPr>
          <p:cNvPr id="6" name="TextBox 5">
            <a:extLst>
              <a:ext uri="{FF2B5EF4-FFF2-40B4-BE49-F238E27FC236}">
                <a16:creationId xmlns:a16="http://schemas.microsoft.com/office/drawing/2014/main" id="{5B2AA395-7A26-4D58-BE5F-EFF26F1EC1CD}"/>
              </a:ext>
            </a:extLst>
          </p:cNvPr>
          <p:cNvSpPr txBox="1"/>
          <p:nvPr/>
        </p:nvSpPr>
        <p:spPr>
          <a:xfrm>
            <a:off x="419100" y="980122"/>
            <a:ext cx="10515600" cy="1477328"/>
          </a:xfrm>
          <a:prstGeom prst="rect">
            <a:avLst/>
          </a:prstGeom>
          <a:noFill/>
        </p:spPr>
        <p:txBody>
          <a:bodyPr wrap="square" rtlCol="0">
            <a:spAutoFit/>
          </a:bodyPr>
          <a:lstStyle/>
          <a:p>
            <a:pPr algn="just"/>
            <a:r>
              <a:rPr lang="en-US" dirty="0"/>
              <a:t>The project life cycle provides a framework for managing a project from its initiation to its closure. It defines the stages a project typically goes through and the activities performed in each stage. Different industries and organizations may use slightly different life cycle models, but the core principles remain the same. A common project life cycle includes the following phases:</a:t>
            </a:r>
          </a:p>
          <a:p>
            <a:endParaRPr lang="en-US" dirty="0"/>
          </a:p>
        </p:txBody>
      </p:sp>
    </p:spTree>
    <p:extLst>
      <p:ext uri="{BB962C8B-B14F-4D97-AF65-F5344CB8AC3E}">
        <p14:creationId xmlns:p14="http://schemas.microsoft.com/office/powerpoint/2010/main" val="1724536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7B63A-CBB4-4CA9-A6FA-F361F4330C17}"/>
              </a:ext>
            </a:extLst>
          </p:cNvPr>
          <p:cNvSpPr>
            <a:spLocks noGrp="1"/>
          </p:cNvSpPr>
          <p:nvPr>
            <p:ph type="title"/>
          </p:nvPr>
        </p:nvSpPr>
        <p:spPr>
          <a:xfrm>
            <a:off x="422408" y="193676"/>
            <a:ext cx="10515600" cy="868362"/>
          </a:xfrm>
        </p:spPr>
        <p:txBody>
          <a:bodyPr/>
          <a:lstStyle/>
          <a:p>
            <a:r>
              <a:rPr lang="en-US" dirty="0"/>
              <a:t>1.2 Project Life Cycle</a:t>
            </a:r>
          </a:p>
        </p:txBody>
      </p:sp>
      <p:sp>
        <p:nvSpPr>
          <p:cNvPr id="3" name="Content Placeholder 2">
            <a:extLst>
              <a:ext uri="{FF2B5EF4-FFF2-40B4-BE49-F238E27FC236}">
                <a16:creationId xmlns:a16="http://schemas.microsoft.com/office/drawing/2014/main" id="{467BAD87-7F1F-4212-A67E-E151369B12B5}"/>
              </a:ext>
            </a:extLst>
          </p:cNvPr>
          <p:cNvSpPr>
            <a:spLocks noGrp="1"/>
          </p:cNvSpPr>
          <p:nvPr>
            <p:ph idx="1"/>
          </p:nvPr>
        </p:nvSpPr>
        <p:spPr>
          <a:xfrm>
            <a:off x="677277" y="1148665"/>
            <a:ext cx="10515600" cy="4351338"/>
          </a:xfrm>
        </p:spPr>
        <p:txBody>
          <a:bodyPr/>
          <a:lstStyle/>
          <a:p>
            <a:pPr algn="just"/>
            <a:r>
              <a:rPr lang="en-US" b="1" dirty="0"/>
              <a:t>Initiation:</a:t>
            </a:r>
            <a:r>
              <a:rPr lang="en-US" dirty="0"/>
              <a:t> This is the starting phase of the project. It involves defining the project's objectives, scope, and feasibility.</a:t>
            </a:r>
          </a:p>
          <a:p>
            <a:pPr algn="just"/>
            <a:r>
              <a:rPr lang="en-US" b="1" dirty="0"/>
              <a:t>Planning:</a:t>
            </a:r>
            <a:r>
              <a:rPr lang="en-US" dirty="0"/>
              <a:t> This phase involves developing a detailed plan for how the project will be executed.</a:t>
            </a:r>
          </a:p>
          <a:p>
            <a:pPr algn="just"/>
            <a:r>
              <a:rPr lang="en-US" b="1" dirty="0"/>
              <a:t>Execution:</a:t>
            </a:r>
            <a:r>
              <a:rPr lang="en-US" dirty="0"/>
              <a:t> This phase involves carrying out the tasks defined in the project plan.</a:t>
            </a:r>
          </a:p>
          <a:p>
            <a:pPr algn="just"/>
            <a:r>
              <a:rPr lang="en-US" dirty="0"/>
              <a:t> </a:t>
            </a:r>
            <a:r>
              <a:rPr lang="en-US" b="1" dirty="0"/>
              <a:t>Monitoring and Controlling:</a:t>
            </a:r>
            <a:r>
              <a:rPr lang="en-US" dirty="0"/>
              <a:t> This phase involves tracking the project's progress, identifying any deviations from the plan, and taking corrective action. This phase runs concurrently with the execution phase.</a:t>
            </a:r>
          </a:p>
          <a:p>
            <a:endParaRPr lang="en-US" dirty="0"/>
          </a:p>
          <a:p>
            <a:endParaRPr lang="en-US" dirty="0"/>
          </a:p>
        </p:txBody>
      </p:sp>
    </p:spTree>
    <p:extLst>
      <p:ext uri="{BB962C8B-B14F-4D97-AF65-F5344CB8AC3E}">
        <p14:creationId xmlns:p14="http://schemas.microsoft.com/office/powerpoint/2010/main" val="3953490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0C65A-3F6B-4ABC-BC90-5AAEE4B8B329}"/>
              </a:ext>
            </a:extLst>
          </p:cNvPr>
          <p:cNvSpPr>
            <a:spLocks noGrp="1"/>
          </p:cNvSpPr>
          <p:nvPr>
            <p:ph type="title"/>
          </p:nvPr>
        </p:nvSpPr>
        <p:spPr>
          <a:xfrm>
            <a:off x="209550" y="155575"/>
            <a:ext cx="10515600" cy="873125"/>
          </a:xfrm>
        </p:spPr>
        <p:txBody>
          <a:bodyPr/>
          <a:lstStyle/>
          <a:p>
            <a:r>
              <a:rPr lang="en-US" dirty="0"/>
              <a:t>1.3 The Project Management Process</a:t>
            </a:r>
          </a:p>
        </p:txBody>
      </p:sp>
      <p:sp>
        <p:nvSpPr>
          <p:cNvPr id="3" name="Content Placeholder 2">
            <a:extLst>
              <a:ext uri="{FF2B5EF4-FFF2-40B4-BE49-F238E27FC236}">
                <a16:creationId xmlns:a16="http://schemas.microsoft.com/office/drawing/2014/main" id="{C9519E5C-3E61-48CC-9F4F-5AB07CCB29F5}"/>
              </a:ext>
            </a:extLst>
          </p:cNvPr>
          <p:cNvSpPr>
            <a:spLocks noGrp="1"/>
          </p:cNvSpPr>
          <p:nvPr>
            <p:ph idx="1"/>
          </p:nvPr>
        </p:nvSpPr>
        <p:spPr>
          <a:xfrm>
            <a:off x="490955" y="2506662"/>
            <a:ext cx="10515600" cy="4351338"/>
          </a:xfrm>
        </p:spPr>
        <p:txBody>
          <a:bodyPr>
            <a:normAutofit fontScale="92500" lnSpcReduction="20000"/>
          </a:bodyPr>
          <a:lstStyle/>
          <a:p>
            <a:pPr algn="just"/>
            <a:r>
              <a:rPr lang="en-US" b="1" dirty="0"/>
              <a:t>Starting the Project (Initiation):</a:t>
            </a:r>
            <a:r>
              <a:rPr lang="en-US" dirty="0"/>
              <a:t> Defining the project at a high level and obtaining authorization.</a:t>
            </a:r>
          </a:p>
          <a:p>
            <a:pPr algn="just"/>
            <a:r>
              <a:rPr lang="en-US" b="1" dirty="0"/>
              <a:t>Organizing and Preparing (Planning):</a:t>
            </a:r>
            <a:r>
              <a:rPr lang="en-US" dirty="0"/>
              <a:t> Developing the roadmap (Scope, Schedule, Budget).</a:t>
            </a:r>
          </a:p>
          <a:p>
            <a:pPr algn="just"/>
            <a:r>
              <a:rPr lang="en-US" b="1" dirty="0"/>
              <a:t>Carrying out the Work (Execution):</a:t>
            </a:r>
            <a:r>
              <a:rPr lang="en-US" dirty="0"/>
              <a:t> The phase where the "heavy lifting" happens and the product is built.</a:t>
            </a:r>
          </a:p>
          <a:p>
            <a:pPr algn="just"/>
            <a:r>
              <a:rPr lang="en-US" b="1" dirty="0"/>
              <a:t>Monitoring and Controlling:</a:t>
            </a:r>
            <a:r>
              <a:rPr lang="en-US" dirty="0"/>
              <a:t> These processes involve tracking the project's progress, identifying any deviations from the plan, and taking corrective action. They include monitoring project performance, identifying variances, taking corrective action, managing risks, and reporting progress.</a:t>
            </a:r>
          </a:p>
          <a:p>
            <a:pPr algn="just"/>
            <a:r>
              <a:rPr lang="en-US" b="1" dirty="0"/>
              <a:t>Closing the Project (Closure):</a:t>
            </a:r>
            <a:r>
              <a:rPr lang="en-US" dirty="0"/>
              <a:t> Formalizing acceptance and handing over the final product.</a:t>
            </a:r>
          </a:p>
          <a:p>
            <a:endParaRPr lang="en-US" dirty="0"/>
          </a:p>
        </p:txBody>
      </p:sp>
      <p:pic>
        <p:nvPicPr>
          <p:cNvPr id="4" name="Picture 3">
            <a:extLst>
              <a:ext uri="{FF2B5EF4-FFF2-40B4-BE49-F238E27FC236}">
                <a16:creationId xmlns:a16="http://schemas.microsoft.com/office/drawing/2014/main" id="{D1089871-AB0F-4850-B64B-1D031655BDCF}"/>
              </a:ext>
            </a:extLst>
          </p:cNvPr>
          <p:cNvPicPr>
            <a:picLocks noChangeAspect="1"/>
          </p:cNvPicPr>
          <p:nvPr/>
        </p:nvPicPr>
        <p:blipFill>
          <a:blip r:embed="rId2"/>
          <a:stretch>
            <a:fillRect/>
          </a:stretch>
        </p:blipFill>
        <p:spPr>
          <a:xfrm>
            <a:off x="490955" y="952564"/>
            <a:ext cx="10234195" cy="1325563"/>
          </a:xfrm>
          <a:prstGeom prst="rect">
            <a:avLst/>
          </a:prstGeom>
        </p:spPr>
      </p:pic>
    </p:spTree>
    <p:extLst>
      <p:ext uri="{BB962C8B-B14F-4D97-AF65-F5344CB8AC3E}">
        <p14:creationId xmlns:p14="http://schemas.microsoft.com/office/powerpoint/2010/main" val="4278660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25D711-91B5-486F-A21F-81537014E174}"/>
              </a:ext>
            </a:extLst>
          </p:cNvPr>
          <p:cNvPicPr>
            <a:picLocks noChangeAspect="1"/>
          </p:cNvPicPr>
          <p:nvPr/>
        </p:nvPicPr>
        <p:blipFill>
          <a:blip r:embed="rId2"/>
          <a:stretch>
            <a:fillRect/>
          </a:stretch>
        </p:blipFill>
        <p:spPr>
          <a:xfrm>
            <a:off x="1610255" y="781365"/>
            <a:ext cx="8476190" cy="5047619"/>
          </a:xfrm>
          <a:prstGeom prst="rect">
            <a:avLst/>
          </a:prstGeom>
        </p:spPr>
      </p:pic>
    </p:spTree>
    <p:extLst>
      <p:ext uri="{BB962C8B-B14F-4D97-AF65-F5344CB8AC3E}">
        <p14:creationId xmlns:p14="http://schemas.microsoft.com/office/powerpoint/2010/main" val="2817562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BE649-DB1B-41E6-B7BA-8B8FA4DECEAA}"/>
              </a:ext>
            </a:extLst>
          </p:cNvPr>
          <p:cNvSpPr>
            <a:spLocks noGrp="1"/>
          </p:cNvSpPr>
          <p:nvPr>
            <p:ph type="title"/>
          </p:nvPr>
        </p:nvSpPr>
        <p:spPr>
          <a:xfrm>
            <a:off x="285467" y="146844"/>
            <a:ext cx="10515600" cy="1325563"/>
          </a:xfrm>
        </p:spPr>
        <p:txBody>
          <a:bodyPr/>
          <a:lstStyle/>
          <a:p>
            <a:r>
              <a:rPr lang="en-US" dirty="0"/>
              <a:t>1.4 Benefits of Project Management</a:t>
            </a:r>
          </a:p>
        </p:txBody>
      </p:sp>
      <p:pic>
        <p:nvPicPr>
          <p:cNvPr id="4" name="Content Placeholder 3">
            <a:extLst>
              <a:ext uri="{FF2B5EF4-FFF2-40B4-BE49-F238E27FC236}">
                <a16:creationId xmlns:a16="http://schemas.microsoft.com/office/drawing/2014/main" id="{B1ECB303-A64C-423B-B9C5-92B3E3FF8654}"/>
              </a:ext>
            </a:extLst>
          </p:cNvPr>
          <p:cNvPicPr>
            <a:picLocks noGrp="1" noChangeAspect="1"/>
          </p:cNvPicPr>
          <p:nvPr>
            <p:ph idx="1"/>
          </p:nvPr>
        </p:nvPicPr>
        <p:blipFill>
          <a:blip r:embed="rId2"/>
          <a:stretch>
            <a:fillRect/>
          </a:stretch>
        </p:blipFill>
        <p:spPr>
          <a:xfrm>
            <a:off x="5334000" y="1377949"/>
            <a:ext cx="5938023" cy="4689475"/>
          </a:xfrm>
          <a:prstGeom prst="rect">
            <a:avLst/>
          </a:prstGeom>
        </p:spPr>
      </p:pic>
      <p:pic>
        <p:nvPicPr>
          <p:cNvPr id="5" name="Picture 4">
            <a:extLst>
              <a:ext uri="{FF2B5EF4-FFF2-40B4-BE49-F238E27FC236}">
                <a16:creationId xmlns:a16="http://schemas.microsoft.com/office/drawing/2014/main" id="{911075BE-4CF0-4AE4-BE49-83D82035AEDB}"/>
              </a:ext>
            </a:extLst>
          </p:cNvPr>
          <p:cNvPicPr>
            <a:picLocks noChangeAspect="1"/>
          </p:cNvPicPr>
          <p:nvPr/>
        </p:nvPicPr>
        <p:blipFill>
          <a:blip r:embed="rId3"/>
          <a:stretch>
            <a:fillRect/>
          </a:stretch>
        </p:blipFill>
        <p:spPr>
          <a:xfrm>
            <a:off x="672327" y="1852738"/>
            <a:ext cx="4523809" cy="3224087"/>
          </a:xfrm>
          <a:prstGeom prst="rect">
            <a:avLst/>
          </a:prstGeom>
        </p:spPr>
      </p:pic>
    </p:spTree>
    <p:extLst>
      <p:ext uri="{BB962C8B-B14F-4D97-AF65-F5344CB8AC3E}">
        <p14:creationId xmlns:p14="http://schemas.microsoft.com/office/powerpoint/2010/main" val="222999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An infographic titled Benefits of Project Management">
            <a:extLst>
              <a:ext uri="{FF2B5EF4-FFF2-40B4-BE49-F238E27FC236}">
                <a16:creationId xmlns:a16="http://schemas.microsoft.com/office/drawing/2014/main" id="{5F0A4087-E9B8-4EB8-9EB2-71E4DF6E2BD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E8F7E435-3AAB-4A5B-BCA0-3E0FA61C83C1}"/>
              </a:ext>
            </a:extLst>
          </p:cNvPr>
          <p:cNvPicPr>
            <a:picLocks noChangeAspect="1"/>
          </p:cNvPicPr>
          <p:nvPr/>
        </p:nvPicPr>
        <p:blipFill>
          <a:blip r:embed="rId2"/>
          <a:stretch>
            <a:fillRect/>
          </a:stretch>
        </p:blipFill>
        <p:spPr>
          <a:xfrm>
            <a:off x="1238251" y="400467"/>
            <a:ext cx="8524874" cy="5905084"/>
          </a:xfrm>
          <a:prstGeom prst="rect">
            <a:avLst/>
          </a:prstGeom>
        </p:spPr>
      </p:pic>
    </p:spTree>
    <p:extLst>
      <p:ext uri="{BB962C8B-B14F-4D97-AF65-F5344CB8AC3E}">
        <p14:creationId xmlns:p14="http://schemas.microsoft.com/office/powerpoint/2010/main" val="1554209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430</Words>
  <Application>Microsoft Office PowerPoint</Application>
  <PresentationFormat>Widescreen</PresentationFormat>
  <Paragraphs>27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Topic 1 Project Management Concepts</vt:lpstr>
      <vt:lpstr>PowerPoint Presentation</vt:lpstr>
      <vt:lpstr>Project Management in Cyber Security </vt:lpstr>
      <vt:lpstr>Security Concepts</vt:lpstr>
      <vt:lpstr>PowerPoint Presentation</vt:lpstr>
      <vt:lpstr>Attributes of a Project </vt:lpstr>
      <vt:lpstr>1.1 Attribute of a Project</vt:lpstr>
      <vt:lpstr>1.2 Project Life Cycle</vt:lpstr>
      <vt:lpstr>1.2 Project Life Cycle</vt:lpstr>
      <vt:lpstr>1.3 The Project Management Process</vt:lpstr>
      <vt:lpstr>PowerPoint Presentation</vt:lpstr>
      <vt:lpstr>1.4 Benefits of Project Management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1: Project Management Concepts</dc:title>
  <dc:creator>GMI-User</dc:creator>
  <cp:lastModifiedBy>GMI-User</cp:lastModifiedBy>
  <cp:revision>18</cp:revision>
  <dcterms:created xsi:type="dcterms:W3CDTF">2026-01-09T01:25:03Z</dcterms:created>
  <dcterms:modified xsi:type="dcterms:W3CDTF">2026-01-11T14:50:13Z</dcterms:modified>
</cp:coreProperties>
</file>