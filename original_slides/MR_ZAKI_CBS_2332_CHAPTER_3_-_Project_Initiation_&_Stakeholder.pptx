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Inter"/>
      <p:regular r:id="rId28"/>
      <p:bold r:id="rId29"/>
      <p:italic r:id="rId30"/>
      <p:boldItalic r:id="rId31"/>
    </p:embeddedFont>
    <p:embeddedFont>
      <p:font typeface="Gill San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gz4x+IcGffj3LJ9ySvpwZDqSEM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4115DA-6D59-4C5D-B915-2D27FCFA09A7}">
  <a:tblStyle styleId="{FE4115DA-6D59-4C5D-B915-2D27FCFA09A7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6E6"/>
          </a:solidFill>
        </a:fill>
      </a:tcStyle>
    </a:band1H>
    <a:band2H>
      <a:tcTxStyle/>
    </a:band2H>
    <a:band1V>
      <a:tcTxStyle/>
      <a:tcStyle>
        <a:fill>
          <a:solidFill>
            <a:srgbClr val="E6E6E6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15589A82-F7E1-4BE2-BE01-FF4689FC384A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GillSans-bold.fntdata"/><Relationship Id="rId10" Type="http://schemas.openxmlformats.org/officeDocument/2006/relationships/slide" Target="slides/slide4.xml"/><Relationship Id="rId32" Type="http://schemas.openxmlformats.org/officeDocument/2006/relationships/font" Target="fonts/GillSans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2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4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" name="Google Shape;31;p25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26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2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8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8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6" name="Google Shape;56;p28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2" name="Google Shape;62;p29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30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0" name="Google Shape;70;p30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31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31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1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31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31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31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31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32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3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33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7" name="Google Shape;7;p22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2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Gill Sans"/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22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166606" y="2249834"/>
            <a:ext cx="7858638" cy="91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IT Project Management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5619601" y="3289845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2166606" y="3632745"/>
            <a:ext cx="7858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Topic 3: Project Initiation &amp; Stakeholder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571500" y="3793642"/>
            <a:ext cx="5244684" cy="207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Core Activities :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Defining the project’s goals, scope, and constraints.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Identifying key stakeholders and their expectations.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Appointing the project manager and core team.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Securing initial funding and approval from sponsor.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What is Project Initiation?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707755" y="3793642"/>
            <a:ext cx="4465195" cy="207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Purpose :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Confirm on business need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Define high-level scope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Identify key stakeholders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Decide to proceed, delay, or stop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571500" y="1541502"/>
            <a:ext cx="11048999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initiation is the </a:t>
            </a:r>
            <a:r>
              <a:rPr b="1" lang="en-US" sz="1800">
                <a:solidFill>
                  <a:schemeClr val="dk1"/>
                </a:solidFill>
                <a:highlight>
                  <a:srgbClr val="00FFFF"/>
                </a:highlight>
                <a:latin typeface="Gill Sans"/>
                <a:ea typeface="Gill Sans"/>
                <a:cs typeface="Gill Sans"/>
                <a:sym typeface="Gill Sans"/>
              </a:rPr>
              <a:t>foundational first phase of project management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, designed to define a project's purpose, scope, and feasibility while securing approval from key stakeholders. It involves developing a business case, creating a project charter, identifying stakeholders, and ensuring alignment with organizational goals to authorize the project. 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571500" y="1961226"/>
            <a:ext cx="1104899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Business case -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 document justifying the project’s feasibility, benefits, and costs.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charter –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document outlining the project’s purpose, high-level scope, and goals to gain approval.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Initial stakeholder list –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list documenting key stakeholders, their expectations, and roles.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Key Output From Project Initiation?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Business Case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71500" y="1961224"/>
            <a:ext cx="1104899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Problem Statement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problem are we trying to solve?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happens if nothing is done?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571499" y="3702581"/>
            <a:ext cx="1104899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Objective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the project aims to achieve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Should be clear and measurable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5456418" y="3706007"/>
            <a:ext cx="646638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Benefits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Business value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Cost reduction or revenue improvement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Risk reduction or compliance improvement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Why a Business Case is Crucial in IT?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571500" y="1961224"/>
            <a:ext cx="11048999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Justification: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 Proves the investment is worthwhile and aligns with business goals.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Decision Making: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 Enables stakeholders to approve, reject, or postpone initiatives based on data.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Resource Allocation: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 Helps prioritize IT projects, especially for limited financial and human resources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.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1570" y="0"/>
            <a:ext cx="655852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Stakeholders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571500" y="1621664"/>
            <a:ext cx="1104899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stakeholder in an IT project is </a:t>
            </a:r>
            <a:r>
              <a:rPr lang="en-US" sz="1800">
                <a:solidFill>
                  <a:schemeClr val="dk1"/>
                </a:solidFill>
                <a:highlight>
                  <a:srgbClr val="00FFFF"/>
                </a:highlight>
                <a:latin typeface="Gill Sans"/>
                <a:ea typeface="Gill Sans"/>
                <a:cs typeface="Gill Sans"/>
                <a:sym typeface="Gill Sans"/>
              </a:rPr>
              <a:t>any individual, group, or organization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that can </a:t>
            </a:r>
            <a:r>
              <a:rPr lang="en-US" sz="1800">
                <a:solidFill>
                  <a:schemeClr val="dk1"/>
                </a:solidFill>
                <a:highlight>
                  <a:srgbClr val="00FFFF"/>
                </a:highlight>
                <a:latin typeface="Gill Sans"/>
                <a:ea typeface="Gill Sans"/>
                <a:cs typeface="Gill Sans"/>
                <a:sym typeface="Gill Sans"/>
              </a:rPr>
              <a:t>affect, be affected by, or perceive themselves to be affected by the project’s decisions, activities, or outcomes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 They have a vested interest in the IT project's success and range from project teams and sponsors to end-users and suppliers.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571499" y="3089111"/>
            <a:ext cx="11049000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Role in IT Projects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They define project requirements, provide feedback on software features, and validate that the technology solves the intended business problems.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571499" y="5326276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Identifying stakeholders early helps avoid issues like </a:t>
            </a:r>
            <a:r>
              <a:rPr lang="en-US" sz="1800">
                <a:solidFill>
                  <a:schemeClr val="dk1"/>
                </a:solidFill>
                <a:highlight>
                  <a:srgbClr val="00FFFF"/>
                </a:highlight>
                <a:latin typeface="Gill Sans"/>
                <a:ea typeface="Gill Sans"/>
                <a:cs typeface="Gill Sans"/>
                <a:sym typeface="Gill Sans"/>
              </a:rPr>
              <a:t>scope creep, conflicting requirements, and project failure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 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Stakeholders Type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71501" y="1343025"/>
            <a:ext cx="3595766" cy="4570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Internal</a:t>
            </a:r>
            <a:endParaRPr/>
          </a:p>
          <a:p>
            <a:pPr indent="-400050" lvl="1" marL="857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Management</a:t>
            </a:r>
            <a:endParaRPr/>
          </a:p>
          <a:p>
            <a:pPr indent="-400050" lvl="1" marL="857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team</a:t>
            </a:r>
            <a:endParaRPr/>
          </a:p>
          <a:p>
            <a:pPr indent="-400050" lvl="1" marL="857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IT/Security team</a:t>
            </a:r>
            <a:endParaRPr/>
          </a:p>
          <a:p>
            <a:pPr indent="-400050" lvl="1" marL="857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End users</a:t>
            </a:r>
            <a:endParaRPr/>
          </a:p>
          <a:p>
            <a:pPr indent="-285750" lvl="1" marL="857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External</a:t>
            </a:r>
            <a:endParaRPr/>
          </a:p>
          <a:p>
            <a:pPr indent="-400050" lvl="1" marL="857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Vendors</a:t>
            </a:r>
            <a:endParaRPr/>
          </a:p>
          <a:p>
            <a:pPr indent="-400050" lvl="1" marL="857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Customer</a:t>
            </a:r>
            <a:endParaRPr/>
          </a:p>
          <a:p>
            <a:pPr indent="-400050" lvl="1" marL="857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Suppliers</a:t>
            </a:r>
            <a:endParaRPr/>
          </a:p>
          <a:p>
            <a:pPr indent="-400050" lvl="1" marL="857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Regulators / auditors</a:t>
            </a:r>
            <a:endParaRPr/>
          </a:p>
        </p:txBody>
      </p:sp>
      <p:pic>
        <p:nvPicPr>
          <p:cNvPr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5439" y="1541502"/>
            <a:ext cx="7195060" cy="4195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Stakeholders Differences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8" name="Google Shape;168;p10"/>
          <p:cNvGraphicFramePr/>
          <p:nvPr/>
        </p:nvGraphicFramePr>
        <p:xfrm>
          <a:off x="571500" y="19982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{FE4115DA-6D59-4C5D-B915-2D27FCFA09A7}</a:tableStyleId>
              </a:tblPr>
              <a:tblGrid>
                <a:gridCol w="3683000"/>
                <a:gridCol w="3683000"/>
                <a:gridCol w="3683000"/>
              </a:tblGrid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Aspect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Internal Stakeholders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External Stakeholders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Position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Inside the organisation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Outside the organisation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Relationship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Direct (Employment/Ownership)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Indirect (Transactional/Impacted)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Influence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High, direct control over daily tasks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Varies (purchasing power, regulation)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Focus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Operational feasibility, resource usage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Product value, financial return, impact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Employee, managers, owners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Customer, suppliers, regulators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Stakeholders Analysis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571500" y="1621664"/>
            <a:ext cx="1104899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Stakeholder analysis is a critical project management process that </a:t>
            </a:r>
            <a:r>
              <a:rPr lang="en-US" sz="1800">
                <a:solidFill>
                  <a:schemeClr val="dk1"/>
                </a:solidFill>
                <a:highlight>
                  <a:srgbClr val="00FFFF"/>
                </a:highlight>
                <a:latin typeface="Gill Sans"/>
                <a:ea typeface="Gill Sans"/>
                <a:cs typeface="Gill Sans"/>
                <a:sym typeface="Gill Sans"/>
              </a:rPr>
              <a:t>identifies and assesses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influence, interests, and impact of individuals or groups involved in a project. It maps stakeholders based on their </a:t>
            </a:r>
            <a:r>
              <a:rPr lang="en-US" sz="1800">
                <a:solidFill>
                  <a:schemeClr val="dk1"/>
                </a:solidFill>
                <a:highlight>
                  <a:srgbClr val="00FFFF"/>
                </a:highlight>
                <a:latin typeface="Gill Sans"/>
                <a:ea typeface="Gill Sans"/>
                <a:cs typeface="Gill Sans"/>
                <a:sym typeface="Gill Sans"/>
              </a:rPr>
              <a:t>power and interest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to create targeted communication and engagement strategies, ensuring alignment, minimizing risks, and securing project support. </a:t>
            </a:r>
            <a:endParaRPr/>
          </a:p>
        </p:txBody>
      </p:sp>
      <p:sp>
        <p:nvSpPr>
          <p:cNvPr id="176" name="Google Shape;176;p11"/>
          <p:cNvSpPr txBox="1"/>
          <p:nvPr/>
        </p:nvSpPr>
        <p:spPr>
          <a:xfrm>
            <a:off x="571500" y="3425252"/>
            <a:ext cx="11048999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Why need to analyze?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Not all stakeholders have equal power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Not everyone needs the same information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Key Steps in Stakeholder Analysis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295275" y="1656040"/>
            <a:ext cx="11601450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Identify Stakeholders: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 Brainstorm all individuals, teams, or organizations affected by or capable of influencing the project (e.g., customers, executives, developers).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Understand &amp; Analyze: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 Determine their needs, expectations, and potential impact on the project.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Prioritize (Map):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 a Power/Interest Grid to classify stakeholders into four groups to determine the level of engagement</a:t>
            </a:r>
            <a:endParaRPr/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High Power/High Interest:</a:t>
            </a: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 Manage closely (key players).</a:t>
            </a:r>
            <a:endParaRPr/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High Power/Low Interest:</a:t>
            </a: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 Keep satisfied.</a:t>
            </a:r>
            <a:endParaRPr/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Low Power/High Interest:</a:t>
            </a: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 Keep informed.</a:t>
            </a:r>
            <a:endParaRPr/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Low Power/Low Interest:</a:t>
            </a: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 Monitor with minimum effort.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Develop Engagement Strategy : 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Plan how to communicate and manage relationships based on their mapping</a:t>
            </a:r>
            <a:endParaRPr/>
          </a:p>
          <a:p>
            <a:pPr indent="-400050" lvl="3" marL="17716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information?</a:t>
            </a:r>
            <a:endParaRPr/>
          </a:p>
          <a:p>
            <a:pPr indent="-400050" lvl="3" marL="17716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 often?</a:t>
            </a:r>
            <a:endParaRPr/>
          </a:p>
          <a:p>
            <a:pPr indent="-400050" lvl="3" marL="17716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romanLcPeriod"/>
            </a:pP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what format?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/>
        </p:nvSpPr>
        <p:spPr>
          <a:xfrm>
            <a:off x="590550" y="215979"/>
            <a:ext cx="1160145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Common Tools and Techniques in Stakeholder Analysis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571499" y="1470122"/>
            <a:ext cx="11049001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Powe/Interest Grid –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Maps stakeholders on a matrix based on their influence and interest.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Stakeholder Matrix/Maps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– A table listing stakeholders, their influence, interest, and engagement strategy.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Salience Model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– Classifies stakeholders based on their power, legitimacy, and urgency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91" name="Google Shape;1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291" y="2880494"/>
            <a:ext cx="3809780" cy="3761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0973" y="3204641"/>
            <a:ext cx="3696479" cy="3437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/>
        </p:nvSpPr>
        <p:spPr>
          <a:xfrm>
            <a:off x="571499" y="548291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lang="en-US" sz="3600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Benefits of Stakeholder Analysis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 txBox="1"/>
          <p:nvPr/>
        </p:nvSpPr>
        <p:spPr>
          <a:xfrm>
            <a:off x="571499" y="2189650"/>
            <a:ext cx="11049001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Risk Mitigation –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Identifies potential conflicts or challenges early.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Improved communication –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Tailor messaging to specific needs.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Increase support –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Builds consensus and gains buy-in from key parties.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Better decision-making –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Incorporates diverse perspectives.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/>
        </p:nvSpPr>
        <p:spPr>
          <a:xfrm>
            <a:off x="571499" y="548291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lang="en-US" sz="3600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Project Charter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571499" y="1564711"/>
            <a:ext cx="11049001" cy="373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project charter is a concise, </a:t>
            </a:r>
            <a:r>
              <a:rPr lang="en-US" sz="1800">
                <a:solidFill>
                  <a:schemeClr val="dk1"/>
                </a:solidFill>
                <a:highlight>
                  <a:srgbClr val="00FFFF"/>
                </a:highlight>
                <a:latin typeface="Gill Sans"/>
                <a:ea typeface="Gill Sans"/>
                <a:cs typeface="Gill Sans"/>
                <a:sym typeface="Gill Sans"/>
              </a:rPr>
              <a:t>formal document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that officially authorizes a </a:t>
            </a:r>
            <a:r>
              <a:rPr lang="en-US" sz="1800">
                <a:solidFill>
                  <a:schemeClr val="dk1"/>
                </a:solidFill>
                <a:highlight>
                  <a:srgbClr val="00FFFF"/>
                </a:highlight>
                <a:latin typeface="Gill Sans"/>
                <a:ea typeface="Gill Sans"/>
                <a:cs typeface="Gill Sans"/>
                <a:sym typeface="Gill Sans"/>
              </a:rPr>
              <a:t>project's existence, outlining its purpose, scope, objectives, and key participants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 Serving as a foundational roadmap, it defines the project manager's authority, aligns stakeholders on goals, and secures necessary resources. It acts as an elevator pitch for the project. 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Purpose &amp; Benefits : 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Authorization –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Give the PM the authority to apply resources.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Alignment –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Ensures everyone involved has a shared understanding of the project’s purpose and direction.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Reference point –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Serves as a guide for decision-making throughout the project lifecycle.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Efficiency –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Prevents “scope creep” by clearly defining boundaries early 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/>
        </p:nvSpPr>
        <p:spPr>
          <a:xfrm>
            <a:off x="571499" y="548291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lang="en-US" sz="3600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Project Charter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571499" y="1594691"/>
            <a:ext cx="11049001" cy="373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Key Components of Project Charter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/>
          </a:p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Title &amp; Purpose :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project’s name and justification (why it is being done).</a:t>
            </a:r>
            <a:endParaRPr/>
          </a:p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 &amp; Success Criteria :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Measurable goals and how success will be measured.</a:t>
            </a:r>
            <a:endParaRPr/>
          </a:p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Scope &amp; Deliverable :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Clearly defined boundaries of what is included and excluded and the final products.</a:t>
            </a:r>
            <a:endParaRPr/>
          </a:p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Stakeholders &amp; Roles :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Key individuals involved, including the sponsor and project manager.</a:t>
            </a:r>
            <a:endParaRPr/>
          </a:p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High-Level timeline &amp; Budget :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Estimated milestones and resource constraints.</a:t>
            </a:r>
            <a:endParaRPr/>
          </a:p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Risk &amp; Assumptions :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Known constraints and potential risks.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0" name="Google Shape;2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1521905"/>
            <a:ext cx="5372099" cy="3814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6433" y="1965103"/>
            <a:ext cx="5372099" cy="2927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/>
        </p:nvSpPr>
        <p:spPr>
          <a:xfrm>
            <a:off x="4172713" y="2460868"/>
            <a:ext cx="3846574" cy="91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Inter"/>
              <a:buNone/>
            </a:pPr>
            <a:r>
              <a:rPr b="1" i="0" lang="en-US" sz="5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/>
          <p:nvPr/>
        </p:nvSpPr>
        <p:spPr>
          <a:xfrm>
            <a:off x="571499" y="548291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Inter"/>
              <a:buNone/>
            </a:pPr>
            <a:r>
              <a:rPr b="1" lang="en-US" sz="3600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Class Activity</a:t>
            </a:r>
            <a:endParaRPr sz="18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571499" y="1343025"/>
            <a:ext cx="11049001" cy="4570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00FF00"/>
                </a:highlight>
                <a:latin typeface="Gill Sans"/>
                <a:ea typeface="Gill Sans"/>
                <a:cs typeface="Gill Sans"/>
                <a:sym typeface="Gill Sans"/>
              </a:rPr>
              <a:t>Draft a Simple Project Charter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Form groups of 3-4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Choose a simple IT or Cybersecurity Project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E.g., Security Awareness System, Access Control Upgrade, Firewall Upgrade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Your charter must include:</a:t>
            </a:r>
            <a:endParaRPr/>
          </a:p>
          <a:p>
            <a:pPr indent="-342900" lvl="2" marL="1257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Title</a:t>
            </a:r>
            <a:endParaRPr/>
          </a:p>
          <a:p>
            <a:pPr indent="-342900" lvl="2" marL="1257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Objective</a:t>
            </a:r>
            <a:endParaRPr/>
          </a:p>
          <a:p>
            <a:pPr indent="-342900" lvl="2" marL="1257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High-Level Scope</a:t>
            </a:r>
            <a:endParaRPr/>
          </a:p>
          <a:p>
            <a:pPr indent="-342900" lvl="2" marL="1257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Timeline &amp; budget (assumption allowed)</a:t>
            </a:r>
            <a:endParaRPr/>
          </a:p>
          <a:p>
            <a:pPr indent="-342900" lvl="2" marL="1257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Key stakeholders</a:t>
            </a:r>
            <a:endParaRPr/>
          </a:p>
          <a:p>
            <a:pPr indent="-342900" lvl="2" marL="1257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One major risk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553386" y="728260"/>
            <a:ext cx="11049001" cy="5586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Title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(Short, clear, non-technical name)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________________________________________________________________________________________________________________________________________________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Project Objective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Describe why the project exists and what is aims to achieve.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problem is being solved?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outcome is expected?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Guideline:</a:t>
            </a:r>
            <a:br>
              <a:rPr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1–2 clear sentences. Avoid vague words like improve or enhance without explanation.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___________________________________________________________________________________________________________________________________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High-Level Scope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Scope (Included):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Key activities or deliverables covered by the project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Out of Scope (Excluded):</a:t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Items intentionally not included (to avoid scope creep)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_________________________________________________________________________________________________________________________________________________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Key Stakeholders – 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List individuals or groups who can influence or are affected by the project.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___________________________________________________________________________________________________________________________________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Major Risk &amp; Initial Mitigation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Identify </a:t>
            </a:r>
            <a:r>
              <a:rPr b="1"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one major risk</a:t>
            </a:r>
            <a:r>
              <a:rPr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that could affect the project at an early stage.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Risk:</a:t>
            </a:r>
            <a:r>
              <a:rPr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What could seriously go wrong?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Mitigation:</a:t>
            </a:r>
            <a:r>
              <a:rPr i="1"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How will this risk be reduced or managed?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240" name="Google Shape;240;p20"/>
          <p:cNvGraphicFramePr/>
          <p:nvPr/>
        </p:nvGraphicFramePr>
        <p:xfrm>
          <a:off x="553386" y="42023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{15589A82-F7E1-4BE2-BE01-FF4689FC384A}</a:tableStyleId>
              </a:tblPr>
              <a:tblGrid>
                <a:gridCol w="3737550"/>
                <a:gridCol w="3737550"/>
              </a:tblGrid>
              <a:tr h="24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Stakeholder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Role/Interest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46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/>
        </p:nvSpPr>
        <p:spPr>
          <a:xfrm>
            <a:off x="465319" y="963039"/>
            <a:ext cx="11261361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1: Cybersecurity Awareness Training Project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Reduce phishing-related incidents by increasing staff awareness.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Stakeholders: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HR, IT Security Team, All Employees, Management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Major Risk: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Low staff participation or engagement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2 : Secure Password Policy Implementation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Enforce stronger password practices organization-wide.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Stakeholders: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All Users, IT Support, Management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Major Risk: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User non-compliance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3 :  Access Control Policy Standardization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Standardize access control rules across departments to reduce unauthorized access.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Stakeholders: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IT Security, Department Heads, System Users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Major Risk: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User resistance due to reduced access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